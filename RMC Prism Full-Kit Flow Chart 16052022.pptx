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3312" r:id="rId2"/>
    <p:sldId id="4224" r:id="rId3"/>
    <p:sldId id="4225" r:id="rId4"/>
    <p:sldId id="1272" r:id="rId5"/>
    <p:sldId id="4222" r:id="rId6"/>
    <p:sldId id="4223"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DC25D1-887C-6443-968C-5F2239C25680}">
          <p14:sldIdLst>
            <p14:sldId id="3312"/>
            <p14:sldId id="4224"/>
            <p14:sldId id="4225"/>
            <p14:sldId id="1272"/>
            <p14:sldId id="4222"/>
            <p14:sldId id="4223"/>
          </p14:sldIdLst>
        </p14:section>
        <p14:section name="Untitled Section" id="{D0DBABFB-0C38-C449-8756-48D98772C3E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0860" autoAdjust="0"/>
  </p:normalViewPr>
  <p:slideViewPr>
    <p:cSldViewPr snapToGrid="0">
      <p:cViewPr varScale="1">
        <p:scale>
          <a:sx n="66" d="100"/>
          <a:sy n="66" d="100"/>
        </p:scale>
        <p:origin x="1902" y="60"/>
      </p:cViewPr>
      <p:guideLst>
        <p:guide orient="horz" pos="2160"/>
        <p:guide pos="2880"/>
      </p:guideLst>
    </p:cSldViewPr>
  </p:slideViewPr>
  <p:notesTextViewPr>
    <p:cViewPr>
      <p:scale>
        <a:sx n="3" d="2"/>
        <a:sy n="3" d="2"/>
      </p:scale>
      <p:origin x="0" y="0"/>
    </p:cViewPr>
  </p:notesTextViewPr>
  <p:sorterViewPr>
    <p:cViewPr>
      <p:scale>
        <a:sx n="110" d="100"/>
        <a:sy n="110" d="100"/>
      </p:scale>
      <p:origin x="0" y="-63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E304B1-1DB0-4DE1-B041-6374816C64C1}"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9DD2C91F-8828-4712-9405-AA3072A73200}">
      <dgm:prSet phldrT="[Text]" custT="1"/>
      <dgm:spPr/>
      <dgm:t>
        <a:bodyPr/>
        <a:lstStyle/>
        <a:p>
          <a:r>
            <a:rPr lang="en-IN" sz="1200" dirty="0"/>
            <a:t>Order booking in OMS by sales officer</a:t>
          </a:r>
          <a:endParaRPr lang="en-US" sz="1200" dirty="0"/>
        </a:p>
      </dgm:t>
    </dgm:pt>
    <dgm:pt modelId="{2EE940FC-125F-45EB-BDD9-7A5ED1B0009F}" type="parTrans" cxnId="{77226466-FF1F-421E-9E5B-9B4E70AF1442}">
      <dgm:prSet/>
      <dgm:spPr/>
      <dgm:t>
        <a:bodyPr/>
        <a:lstStyle/>
        <a:p>
          <a:endParaRPr lang="en-US" sz="3600"/>
        </a:p>
      </dgm:t>
    </dgm:pt>
    <dgm:pt modelId="{D8B1C258-680F-4381-8548-2DD8D9934340}" type="sibTrans" cxnId="{77226466-FF1F-421E-9E5B-9B4E70AF1442}">
      <dgm:prSet custT="1"/>
      <dgm:spPr/>
      <dgm:t>
        <a:bodyPr/>
        <a:lstStyle/>
        <a:p>
          <a:endParaRPr lang="en-US" sz="1050"/>
        </a:p>
      </dgm:t>
    </dgm:pt>
    <dgm:pt modelId="{F8DDD14F-379B-4B99-A0CE-27154FF87D74}">
      <dgm:prSet phldrT="[Text]" custT="1"/>
      <dgm:spPr/>
      <dgm:t>
        <a:bodyPr/>
        <a:lstStyle/>
        <a:p>
          <a:r>
            <a:rPr lang="en-IN" sz="1200" dirty="0"/>
            <a:t> Order data syncing daily with OneBeat Server for plug-in</a:t>
          </a:r>
          <a:endParaRPr lang="en-US" sz="1200" dirty="0"/>
        </a:p>
      </dgm:t>
    </dgm:pt>
    <dgm:pt modelId="{047C61DD-852C-472A-9B06-346576B1F6AC}" type="parTrans" cxnId="{0F9BA10F-A197-4F51-AE13-91400EC0FF8A}">
      <dgm:prSet/>
      <dgm:spPr/>
      <dgm:t>
        <a:bodyPr/>
        <a:lstStyle/>
        <a:p>
          <a:endParaRPr lang="en-US" sz="3600"/>
        </a:p>
      </dgm:t>
    </dgm:pt>
    <dgm:pt modelId="{3FD916E8-384C-4ACC-A61C-483007159F4B}" type="sibTrans" cxnId="{0F9BA10F-A197-4F51-AE13-91400EC0FF8A}">
      <dgm:prSet custT="1"/>
      <dgm:spPr/>
      <dgm:t>
        <a:bodyPr/>
        <a:lstStyle/>
        <a:p>
          <a:endParaRPr lang="en-US" sz="1050"/>
        </a:p>
      </dgm:t>
    </dgm:pt>
    <dgm:pt modelId="{7624F919-7270-412E-AE33-7294103BD516}">
      <dgm:prSet phldrT="[Text]" custT="1"/>
      <dgm:spPr/>
      <dgm:t>
        <a:bodyPr/>
        <a:lstStyle/>
        <a:p>
          <a:r>
            <a:rPr lang="en-IN" sz="1200" dirty="0"/>
            <a:t>Onebeat populates order data in Full-kit Management System of plug-in</a:t>
          </a:r>
          <a:endParaRPr lang="en-US" sz="1200" dirty="0"/>
        </a:p>
      </dgm:t>
    </dgm:pt>
    <dgm:pt modelId="{D7169047-556C-4786-BFCD-8EFD2B5F654F}" type="parTrans" cxnId="{0B811BD3-38CE-4175-9DDE-33CFB682A6BA}">
      <dgm:prSet/>
      <dgm:spPr/>
      <dgm:t>
        <a:bodyPr/>
        <a:lstStyle/>
        <a:p>
          <a:endParaRPr lang="en-US" sz="3600"/>
        </a:p>
      </dgm:t>
    </dgm:pt>
    <dgm:pt modelId="{94664964-054A-4C25-B33F-1F60AD4281FE}" type="sibTrans" cxnId="{0B811BD3-38CE-4175-9DDE-33CFB682A6BA}">
      <dgm:prSet custT="1"/>
      <dgm:spPr/>
      <dgm:t>
        <a:bodyPr/>
        <a:lstStyle/>
        <a:p>
          <a:endParaRPr lang="en-US" sz="1050"/>
        </a:p>
      </dgm:t>
    </dgm:pt>
    <dgm:pt modelId="{92F9F37F-C089-4E7C-9AF5-5582C7B07C46}">
      <dgm:prSet phldrT="[Text]" custT="1"/>
      <dgm:spPr/>
      <dgm:t>
        <a:bodyPr/>
        <a:lstStyle/>
        <a:p>
          <a:r>
            <a:rPr lang="en-IN" sz="1200" dirty="0"/>
            <a:t>Full-kit elements Access Control based on Function, Location, Hierarchy</a:t>
          </a:r>
          <a:endParaRPr lang="en-US" sz="1200" dirty="0"/>
        </a:p>
      </dgm:t>
    </dgm:pt>
    <dgm:pt modelId="{3E682D04-B4D9-4E74-8E3F-68AC35A38050}" type="parTrans" cxnId="{0884C50E-42AB-439D-9D38-742B9BD3A251}">
      <dgm:prSet/>
      <dgm:spPr/>
      <dgm:t>
        <a:bodyPr/>
        <a:lstStyle/>
        <a:p>
          <a:endParaRPr lang="en-US" sz="3600"/>
        </a:p>
      </dgm:t>
    </dgm:pt>
    <dgm:pt modelId="{6D5EA231-4A69-4C24-B07A-61CB6CA546A4}" type="sibTrans" cxnId="{0884C50E-42AB-439D-9D38-742B9BD3A251}">
      <dgm:prSet custT="1"/>
      <dgm:spPr/>
      <dgm:t>
        <a:bodyPr/>
        <a:lstStyle/>
        <a:p>
          <a:endParaRPr lang="en-US" sz="1050"/>
        </a:p>
      </dgm:t>
    </dgm:pt>
    <dgm:pt modelId="{0CFC0D2C-5B86-476D-8E86-44AD4200DC5A}">
      <dgm:prSet phldrT="[Text]" custT="1"/>
      <dgm:spPr/>
      <dgm:t>
        <a:bodyPr/>
        <a:lstStyle/>
        <a:p>
          <a:r>
            <a:rPr lang="en-IN" sz="1200" dirty="0"/>
            <a:t>Users can update their assigned full-kit elements for each  order </a:t>
          </a:r>
          <a:endParaRPr lang="en-US" sz="1200" dirty="0"/>
        </a:p>
      </dgm:t>
    </dgm:pt>
    <dgm:pt modelId="{B17366D1-7ECD-4B1B-AD6E-B8C0079E930C}" type="parTrans" cxnId="{4B1FB374-F9D2-4236-9CEE-A718AB9F5B06}">
      <dgm:prSet/>
      <dgm:spPr/>
      <dgm:t>
        <a:bodyPr/>
        <a:lstStyle/>
        <a:p>
          <a:endParaRPr lang="en-US" sz="3600"/>
        </a:p>
      </dgm:t>
    </dgm:pt>
    <dgm:pt modelId="{63A4C4D0-4B4A-44AC-88A2-7B6AA06A6847}" type="sibTrans" cxnId="{4B1FB374-F9D2-4236-9CEE-A718AB9F5B06}">
      <dgm:prSet custT="1"/>
      <dgm:spPr/>
      <dgm:t>
        <a:bodyPr/>
        <a:lstStyle/>
        <a:p>
          <a:endParaRPr lang="en-US" sz="1050"/>
        </a:p>
      </dgm:t>
    </dgm:pt>
    <dgm:pt modelId="{F1E7997B-040F-42B5-82F4-A631EDDAB744}">
      <dgm:prSet phldrT="[Text]" custT="1"/>
      <dgm:spPr/>
      <dgm:t>
        <a:bodyPr/>
        <a:lstStyle/>
        <a:p>
          <a:r>
            <a:rPr lang="en-IN" sz="1200" dirty="0"/>
            <a:t>Sequential Access based on completion of FK1 &amp; FK2</a:t>
          </a:r>
          <a:endParaRPr lang="en-US" sz="1200" dirty="0"/>
        </a:p>
      </dgm:t>
    </dgm:pt>
    <dgm:pt modelId="{DD73DDFC-9AF7-4EB7-970B-48B2BBFB37E6}" type="parTrans" cxnId="{0E6EBDC4-E866-46CE-8E0E-075831AF9FDE}">
      <dgm:prSet/>
      <dgm:spPr/>
      <dgm:t>
        <a:bodyPr/>
        <a:lstStyle/>
        <a:p>
          <a:endParaRPr lang="en-US" sz="3600"/>
        </a:p>
      </dgm:t>
    </dgm:pt>
    <dgm:pt modelId="{A5219D4F-94FE-485C-AB9F-018B0369EF05}" type="sibTrans" cxnId="{0E6EBDC4-E866-46CE-8E0E-075831AF9FDE}">
      <dgm:prSet custT="1"/>
      <dgm:spPr/>
      <dgm:t>
        <a:bodyPr/>
        <a:lstStyle/>
        <a:p>
          <a:endParaRPr lang="en-US" sz="1050"/>
        </a:p>
      </dgm:t>
    </dgm:pt>
    <dgm:pt modelId="{36BBA808-10F3-4402-B3EB-566397F6FD6E}">
      <dgm:prSet phldrT="[Text]" custT="1"/>
      <dgm:spPr/>
      <dgm:t>
        <a:bodyPr/>
        <a:lstStyle/>
        <a:p>
          <a:r>
            <a:rPr lang="en-IN" sz="1200" dirty="0"/>
            <a:t>OneBeat MIS based on Full-kit Completion Stages</a:t>
          </a:r>
          <a:endParaRPr lang="en-US" sz="1200" dirty="0"/>
        </a:p>
      </dgm:t>
    </dgm:pt>
    <dgm:pt modelId="{BCA28AE8-7461-4C07-9BD9-E87D35F41A82}" type="parTrans" cxnId="{A69AC624-109F-4B55-B2CA-2CAD432300AA}">
      <dgm:prSet/>
      <dgm:spPr/>
      <dgm:t>
        <a:bodyPr/>
        <a:lstStyle/>
        <a:p>
          <a:endParaRPr lang="en-US" sz="3600"/>
        </a:p>
      </dgm:t>
    </dgm:pt>
    <dgm:pt modelId="{39DA0D61-936A-41A9-93B1-7AEDFB320567}" type="sibTrans" cxnId="{A69AC624-109F-4B55-B2CA-2CAD432300AA}">
      <dgm:prSet custT="1"/>
      <dgm:spPr/>
      <dgm:t>
        <a:bodyPr/>
        <a:lstStyle/>
        <a:p>
          <a:endParaRPr lang="en-US" sz="1050"/>
        </a:p>
      </dgm:t>
    </dgm:pt>
    <dgm:pt modelId="{DFFEE1A4-452F-478C-95FD-2A31E4E095A6}">
      <dgm:prSet phldrT="[Text]" custT="1"/>
      <dgm:spPr/>
      <dgm:t>
        <a:bodyPr/>
        <a:lstStyle/>
        <a:p>
          <a:r>
            <a:rPr lang="en-IN" sz="1200" dirty="0"/>
            <a:t>Plant/Function Heads can focus on orders with stage-by-stage pending completion of Full-kits</a:t>
          </a:r>
          <a:endParaRPr lang="en-US" sz="1200" dirty="0"/>
        </a:p>
      </dgm:t>
    </dgm:pt>
    <dgm:pt modelId="{99A81456-547F-47F4-988C-FD6143232BCD}" type="parTrans" cxnId="{CE7C418C-BB1C-41E3-9CFD-C8F6E9CB2CFC}">
      <dgm:prSet/>
      <dgm:spPr/>
      <dgm:t>
        <a:bodyPr/>
        <a:lstStyle/>
        <a:p>
          <a:endParaRPr lang="en-US" sz="3600"/>
        </a:p>
      </dgm:t>
    </dgm:pt>
    <dgm:pt modelId="{4B90FE22-DB56-4709-8454-796FB10E7A79}" type="sibTrans" cxnId="{CE7C418C-BB1C-41E3-9CFD-C8F6E9CB2CFC}">
      <dgm:prSet custT="1"/>
      <dgm:spPr/>
      <dgm:t>
        <a:bodyPr/>
        <a:lstStyle/>
        <a:p>
          <a:endParaRPr lang="en-US" sz="1050"/>
        </a:p>
      </dgm:t>
    </dgm:pt>
    <dgm:pt modelId="{0D165173-AE0E-495E-A69A-4EBA1F1A6919}">
      <dgm:prSet phldrT="[Text]" custT="1"/>
      <dgm:spPr/>
      <dgm:t>
        <a:bodyPr/>
        <a:lstStyle/>
        <a:p>
          <a:r>
            <a:rPr lang="en-IN" sz="1200" dirty="0"/>
            <a:t>Periodic Review @ HO (POOGI)</a:t>
          </a:r>
          <a:endParaRPr lang="en-US" sz="1200" dirty="0"/>
        </a:p>
      </dgm:t>
    </dgm:pt>
    <dgm:pt modelId="{D02ACD39-36F4-4A1C-BFF4-8DEA870D46E3}" type="parTrans" cxnId="{CEBE2E6F-700A-4E5F-A10B-5B71E3DB99E4}">
      <dgm:prSet/>
      <dgm:spPr/>
      <dgm:t>
        <a:bodyPr/>
        <a:lstStyle/>
        <a:p>
          <a:endParaRPr lang="en-US" sz="3600"/>
        </a:p>
      </dgm:t>
    </dgm:pt>
    <dgm:pt modelId="{F56F5FB6-130F-4EA3-8BC4-AF6EE6B2F2E0}" type="sibTrans" cxnId="{CEBE2E6F-700A-4E5F-A10B-5B71E3DB99E4}">
      <dgm:prSet/>
      <dgm:spPr/>
      <dgm:t>
        <a:bodyPr/>
        <a:lstStyle/>
        <a:p>
          <a:endParaRPr lang="en-US" sz="3600"/>
        </a:p>
      </dgm:t>
    </dgm:pt>
    <dgm:pt modelId="{49AB19CC-6CCB-4A5B-8A99-35E578ADB8DF}" type="pres">
      <dgm:prSet presAssocID="{83E304B1-1DB0-4DE1-B041-6374816C64C1}" presName="diagram" presStyleCnt="0">
        <dgm:presLayoutVars>
          <dgm:dir/>
          <dgm:resizeHandles val="exact"/>
        </dgm:presLayoutVars>
      </dgm:prSet>
      <dgm:spPr/>
    </dgm:pt>
    <dgm:pt modelId="{1E1ADB23-6B8C-4EAF-B6A2-7697E7CD0972}" type="pres">
      <dgm:prSet presAssocID="{9DD2C91F-8828-4712-9405-AA3072A73200}" presName="node" presStyleLbl="node1" presStyleIdx="0" presStyleCnt="9">
        <dgm:presLayoutVars>
          <dgm:bulletEnabled val="1"/>
        </dgm:presLayoutVars>
      </dgm:prSet>
      <dgm:spPr>
        <a:prstGeom prst="flowChartDecision">
          <a:avLst/>
        </a:prstGeom>
      </dgm:spPr>
    </dgm:pt>
    <dgm:pt modelId="{B2FCA3A4-0D75-46FF-B561-FFAF5BB78CDD}" type="pres">
      <dgm:prSet presAssocID="{D8B1C258-680F-4381-8548-2DD8D9934340}" presName="sibTrans" presStyleLbl="sibTrans2D1" presStyleIdx="0" presStyleCnt="8"/>
      <dgm:spPr/>
    </dgm:pt>
    <dgm:pt modelId="{B7451E00-2159-4860-948A-3390DDA0C4F8}" type="pres">
      <dgm:prSet presAssocID="{D8B1C258-680F-4381-8548-2DD8D9934340}" presName="connectorText" presStyleLbl="sibTrans2D1" presStyleIdx="0" presStyleCnt="8"/>
      <dgm:spPr/>
    </dgm:pt>
    <dgm:pt modelId="{E93AB77D-0DC6-46D4-B294-228A915F2157}" type="pres">
      <dgm:prSet presAssocID="{F8DDD14F-379B-4B99-A0CE-27154FF87D74}" presName="node" presStyleLbl="node1" presStyleIdx="1" presStyleCnt="9">
        <dgm:presLayoutVars>
          <dgm:bulletEnabled val="1"/>
        </dgm:presLayoutVars>
      </dgm:prSet>
      <dgm:spPr/>
    </dgm:pt>
    <dgm:pt modelId="{A4B8210D-ED33-4553-8B44-56FBAE91B00F}" type="pres">
      <dgm:prSet presAssocID="{3FD916E8-384C-4ACC-A61C-483007159F4B}" presName="sibTrans" presStyleLbl="sibTrans2D1" presStyleIdx="1" presStyleCnt="8"/>
      <dgm:spPr/>
    </dgm:pt>
    <dgm:pt modelId="{1E62D734-E564-4586-B803-AA688F7F7D0A}" type="pres">
      <dgm:prSet presAssocID="{3FD916E8-384C-4ACC-A61C-483007159F4B}" presName="connectorText" presStyleLbl="sibTrans2D1" presStyleIdx="1" presStyleCnt="8"/>
      <dgm:spPr/>
    </dgm:pt>
    <dgm:pt modelId="{489201EF-2EC8-4670-AD4D-A75BF56D939A}" type="pres">
      <dgm:prSet presAssocID="{7624F919-7270-412E-AE33-7294103BD516}" presName="node" presStyleLbl="node1" presStyleIdx="2" presStyleCnt="9">
        <dgm:presLayoutVars>
          <dgm:bulletEnabled val="1"/>
        </dgm:presLayoutVars>
      </dgm:prSet>
      <dgm:spPr>
        <a:prstGeom prst="flowChartInputOutput">
          <a:avLst/>
        </a:prstGeom>
      </dgm:spPr>
    </dgm:pt>
    <dgm:pt modelId="{2958FE9E-3810-424C-95A9-30C4F2A121DE}" type="pres">
      <dgm:prSet presAssocID="{94664964-054A-4C25-B33F-1F60AD4281FE}" presName="sibTrans" presStyleLbl="sibTrans2D1" presStyleIdx="2" presStyleCnt="8"/>
      <dgm:spPr/>
    </dgm:pt>
    <dgm:pt modelId="{9A8A7E52-9586-486A-89A3-A3E96097A1EC}" type="pres">
      <dgm:prSet presAssocID="{94664964-054A-4C25-B33F-1F60AD4281FE}" presName="connectorText" presStyleLbl="sibTrans2D1" presStyleIdx="2" presStyleCnt="8"/>
      <dgm:spPr/>
    </dgm:pt>
    <dgm:pt modelId="{0A4B3EEE-68AD-4B52-8443-5CDA9E4D7D2E}" type="pres">
      <dgm:prSet presAssocID="{92F9F37F-C089-4E7C-9AF5-5582C7B07C46}" presName="node" presStyleLbl="node1" presStyleIdx="3" presStyleCnt="9">
        <dgm:presLayoutVars>
          <dgm:bulletEnabled val="1"/>
        </dgm:presLayoutVars>
      </dgm:prSet>
      <dgm:spPr>
        <a:prstGeom prst="flowChartDisplay">
          <a:avLst/>
        </a:prstGeom>
      </dgm:spPr>
    </dgm:pt>
    <dgm:pt modelId="{AAF45730-FB17-436C-B968-1B3DCD21E5F8}" type="pres">
      <dgm:prSet presAssocID="{6D5EA231-4A69-4C24-B07A-61CB6CA546A4}" presName="sibTrans" presStyleLbl="sibTrans2D1" presStyleIdx="3" presStyleCnt="8"/>
      <dgm:spPr/>
    </dgm:pt>
    <dgm:pt modelId="{242D4133-42DA-4C9B-BED7-919E341FF93A}" type="pres">
      <dgm:prSet presAssocID="{6D5EA231-4A69-4C24-B07A-61CB6CA546A4}" presName="connectorText" presStyleLbl="sibTrans2D1" presStyleIdx="3" presStyleCnt="8"/>
      <dgm:spPr/>
    </dgm:pt>
    <dgm:pt modelId="{D9C3D9AD-118D-433F-83D2-664CA1E4A63A}" type="pres">
      <dgm:prSet presAssocID="{0CFC0D2C-5B86-476D-8E86-44AD4200DC5A}" presName="node" presStyleLbl="node1" presStyleIdx="4" presStyleCnt="9" custLinFactNeighborX="-2722">
        <dgm:presLayoutVars>
          <dgm:bulletEnabled val="1"/>
        </dgm:presLayoutVars>
      </dgm:prSet>
      <dgm:spPr>
        <a:prstGeom prst="flowChartManualInput">
          <a:avLst/>
        </a:prstGeom>
      </dgm:spPr>
    </dgm:pt>
    <dgm:pt modelId="{DB27F943-6597-47CD-B206-C2E9E95F2000}" type="pres">
      <dgm:prSet presAssocID="{63A4C4D0-4B4A-44AC-88A2-7B6AA06A6847}" presName="sibTrans" presStyleLbl="sibTrans2D1" presStyleIdx="4" presStyleCnt="8"/>
      <dgm:spPr/>
    </dgm:pt>
    <dgm:pt modelId="{DE25A272-D584-45D4-AF9C-671F5C78885E}" type="pres">
      <dgm:prSet presAssocID="{63A4C4D0-4B4A-44AC-88A2-7B6AA06A6847}" presName="connectorText" presStyleLbl="sibTrans2D1" presStyleIdx="4" presStyleCnt="8"/>
      <dgm:spPr/>
    </dgm:pt>
    <dgm:pt modelId="{C702A6CC-2F22-4CCB-AEE0-0F862C6EB637}" type="pres">
      <dgm:prSet presAssocID="{F1E7997B-040F-42B5-82F4-A631EDDAB744}" presName="node" presStyleLbl="node1" presStyleIdx="5" presStyleCnt="9">
        <dgm:presLayoutVars>
          <dgm:bulletEnabled val="1"/>
        </dgm:presLayoutVars>
      </dgm:prSet>
      <dgm:spPr/>
    </dgm:pt>
    <dgm:pt modelId="{6768E61E-8BA0-4D2B-8149-ED90D99D6A7F}" type="pres">
      <dgm:prSet presAssocID="{A5219D4F-94FE-485C-AB9F-018B0369EF05}" presName="sibTrans" presStyleLbl="sibTrans2D1" presStyleIdx="5" presStyleCnt="8"/>
      <dgm:spPr/>
    </dgm:pt>
    <dgm:pt modelId="{2969194D-28A4-4B8C-9277-F91EBE455827}" type="pres">
      <dgm:prSet presAssocID="{A5219D4F-94FE-485C-AB9F-018B0369EF05}" presName="connectorText" presStyleLbl="sibTrans2D1" presStyleIdx="5" presStyleCnt="8"/>
      <dgm:spPr/>
    </dgm:pt>
    <dgm:pt modelId="{B53EECA5-B114-4E8C-8F29-57121A4F52F5}" type="pres">
      <dgm:prSet presAssocID="{36BBA808-10F3-4402-B3EB-566397F6FD6E}" presName="node" presStyleLbl="node1" presStyleIdx="6" presStyleCnt="9">
        <dgm:presLayoutVars>
          <dgm:bulletEnabled val="1"/>
        </dgm:presLayoutVars>
      </dgm:prSet>
      <dgm:spPr/>
    </dgm:pt>
    <dgm:pt modelId="{94D32480-13D6-4537-982E-8236EFE7246B}" type="pres">
      <dgm:prSet presAssocID="{39DA0D61-936A-41A9-93B1-7AEDFB320567}" presName="sibTrans" presStyleLbl="sibTrans2D1" presStyleIdx="6" presStyleCnt="8"/>
      <dgm:spPr/>
    </dgm:pt>
    <dgm:pt modelId="{751D15EE-4175-49C1-BE65-81782807D46C}" type="pres">
      <dgm:prSet presAssocID="{39DA0D61-936A-41A9-93B1-7AEDFB320567}" presName="connectorText" presStyleLbl="sibTrans2D1" presStyleIdx="6" presStyleCnt="8"/>
      <dgm:spPr/>
    </dgm:pt>
    <dgm:pt modelId="{1FDEB5EB-A205-4765-B76A-4A0BC49968F1}" type="pres">
      <dgm:prSet presAssocID="{DFFEE1A4-452F-478C-95FD-2A31E4E095A6}" presName="node" presStyleLbl="node1" presStyleIdx="7" presStyleCnt="9">
        <dgm:presLayoutVars>
          <dgm:bulletEnabled val="1"/>
        </dgm:presLayoutVars>
      </dgm:prSet>
      <dgm:spPr/>
    </dgm:pt>
    <dgm:pt modelId="{E4F9AC24-FFA6-4B79-AF72-FD1A06406C5C}" type="pres">
      <dgm:prSet presAssocID="{4B90FE22-DB56-4709-8454-796FB10E7A79}" presName="sibTrans" presStyleLbl="sibTrans2D1" presStyleIdx="7" presStyleCnt="8"/>
      <dgm:spPr/>
    </dgm:pt>
    <dgm:pt modelId="{5EAD8D4F-7089-4CBA-8450-963CFBC86868}" type="pres">
      <dgm:prSet presAssocID="{4B90FE22-DB56-4709-8454-796FB10E7A79}" presName="connectorText" presStyleLbl="sibTrans2D1" presStyleIdx="7" presStyleCnt="8"/>
      <dgm:spPr/>
    </dgm:pt>
    <dgm:pt modelId="{5933F075-844F-4B61-807B-679A0F60020C}" type="pres">
      <dgm:prSet presAssocID="{0D165173-AE0E-495E-A69A-4EBA1F1A6919}" presName="node" presStyleLbl="node1" presStyleIdx="8" presStyleCnt="9">
        <dgm:presLayoutVars>
          <dgm:bulletEnabled val="1"/>
        </dgm:presLayoutVars>
      </dgm:prSet>
      <dgm:spPr/>
    </dgm:pt>
  </dgm:ptLst>
  <dgm:cxnLst>
    <dgm:cxn modelId="{899AF000-231A-4065-A2DF-1232218C7DB1}" type="presOf" srcId="{D8B1C258-680F-4381-8548-2DD8D9934340}" destId="{B7451E00-2159-4860-948A-3390DDA0C4F8}" srcOrd="1" destOrd="0" presId="urn:microsoft.com/office/officeart/2005/8/layout/process5"/>
    <dgm:cxn modelId="{38484A07-6B41-445B-87B8-F0A67F7E0A47}" type="presOf" srcId="{3FD916E8-384C-4ACC-A61C-483007159F4B}" destId="{1E62D734-E564-4586-B803-AA688F7F7D0A}" srcOrd="1" destOrd="0" presId="urn:microsoft.com/office/officeart/2005/8/layout/process5"/>
    <dgm:cxn modelId="{0884C50E-42AB-439D-9D38-742B9BD3A251}" srcId="{83E304B1-1DB0-4DE1-B041-6374816C64C1}" destId="{92F9F37F-C089-4E7C-9AF5-5582C7B07C46}" srcOrd="3" destOrd="0" parTransId="{3E682D04-B4D9-4E74-8E3F-68AC35A38050}" sibTransId="{6D5EA231-4A69-4C24-B07A-61CB6CA546A4}"/>
    <dgm:cxn modelId="{0F9BA10F-A197-4F51-AE13-91400EC0FF8A}" srcId="{83E304B1-1DB0-4DE1-B041-6374816C64C1}" destId="{F8DDD14F-379B-4B99-A0CE-27154FF87D74}" srcOrd="1" destOrd="0" parTransId="{047C61DD-852C-472A-9B06-346576B1F6AC}" sibTransId="{3FD916E8-384C-4ACC-A61C-483007159F4B}"/>
    <dgm:cxn modelId="{4577DE1C-A993-4225-B7CE-DC1367018782}" type="presOf" srcId="{0D165173-AE0E-495E-A69A-4EBA1F1A6919}" destId="{5933F075-844F-4B61-807B-679A0F60020C}" srcOrd="0" destOrd="0" presId="urn:microsoft.com/office/officeart/2005/8/layout/process5"/>
    <dgm:cxn modelId="{A69AC624-109F-4B55-B2CA-2CAD432300AA}" srcId="{83E304B1-1DB0-4DE1-B041-6374816C64C1}" destId="{36BBA808-10F3-4402-B3EB-566397F6FD6E}" srcOrd="6" destOrd="0" parTransId="{BCA28AE8-7461-4C07-9BD9-E87D35F41A82}" sibTransId="{39DA0D61-936A-41A9-93B1-7AEDFB320567}"/>
    <dgm:cxn modelId="{95957537-0E6A-473B-8676-C5CAAA51D6BB}" type="presOf" srcId="{D8B1C258-680F-4381-8548-2DD8D9934340}" destId="{B2FCA3A4-0D75-46FF-B561-FFAF5BB78CDD}" srcOrd="0" destOrd="0" presId="urn:microsoft.com/office/officeart/2005/8/layout/process5"/>
    <dgm:cxn modelId="{88386D63-0DB4-45A0-A18D-1FBA8722C42B}" type="presOf" srcId="{92F9F37F-C089-4E7C-9AF5-5582C7B07C46}" destId="{0A4B3EEE-68AD-4B52-8443-5CDA9E4D7D2E}" srcOrd="0" destOrd="0" presId="urn:microsoft.com/office/officeart/2005/8/layout/process5"/>
    <dgm:cxn modelId="{77226466-FF1F-421E-9E5B-9B4E70AF1442}" srcId="{83E304B1-1DB0-4DE1-B041-6374816C64C1}" destId="{9DD2C91F-8828-4712-9405-AA3072A73200}" srcOrd="0" destOrd="0" parTransId="{2EE940FC-125F-45EB-BDD9-7A5ED1B0009F}" sibTransId="{D8B1C258-680F-4381-8548-2DD8D9934340}"/>
    <dgm:cxn modelId="{085D7646-B515-4200-BB0D-85EDAC2C1A49}" type="presOf" srcId="{94664964-054A-4C25-B33F-1F60AD4281FE}" destId="{2958FE9E-3810-424C-95A9-30C4F2A121DE}" srcOrd="0" destOrd="0" presId="urn:microsoft.com/office/officeart/2005/8/layout/process5"/>
    <dgm:cxn modelId="{CEBE2E6F-700A-4E5F-A10B-5B71E3DB99E4}" srcId="{83E304B1-1DB0-4DE1-B041-6374816C64C1}" destId="{0D165173-AE0E-495E-A69A-4EBA1F1A6919}" srcOrd="8" destOrd="0" parTransId="{D02ACD39-36F4-4A1C-BFF4-8DEA870D46E3}" sibTransId="{F56F5FB6-130F-4EA3-8BC4-AF6EE6B2F2E0}"/>
    <dgm:cxn modelId="{ED239D53-BDBB-4D63-AC27-81187D661D1F}" type="presOf" srcId="{4B90FE22-DB56-4709-8454-796FB10E7A79}" destId="{5EAD8D4F-7089-4CBA-8450-963CFBC86868}" srcOrd="1" destOrd="0" presId="urn:microsoft.com/office/officeart/2005/8/layout/process5"/>
    <dgm:cxn modelId="{0F415674-3794-4115-94B4-EEB5EA1C9E9F}" type="presOf" srcId="{9DD2C91F-8828-4712-9405-AA3072A73200}" destId="{1E1ADB23-6B8C-4EAF-B6A2-7697E7CD0972}" srcOrd="0" destOrd="0" presId="urn:microsoft.com/office/officeart/2005/8/layout/process5"/>
    <dgm:cxn modelId="{4B1FB374-F9D2-4236-9CEE-A718AB9F5B06}" srcId="{83E304B1-1DB0-4DE1-B041-6374816C64C1}" destId="{0CFC0D2C-5B86-476D-8E86-44AD4200DC5A}" srcOrd="4" destOrd="0" parTransId="{B17366D1-7ECD-4B1B-AD6E-B8C0079E930C}" sibTransId="{63A4C4D0-4B4A-44AC-88A2-7B6AA06A6847}"/>
    <dgm:cxn modelId="{88148682-2D40-4B93-96DD-41FD9DF29FB2}" type="presOf" srcId="{0CFC0D2C-5B86-476D-8E86-44AD4200DC5A}" destId="{D9C3D9AD-118D-433F-83D2-664CA1E4A63A}" srcOrd="0" destOrd="0" presId="urn:microsoft.com/office/officeart/2005/8/layout/process5"/>
    <dgm:cxn modelId="{CE7C418C-BB1C-41E3-9CFD-C8F6E9CB2CFC}" srcId="{83E304B1-1DB0-4DE1-B041-6374816C64C1}" destId="{DFFEE1A4-452F-478C-95FD-2A31E4E095A6}" srcOrd="7" destOrd="0" parTransId="{99A81456-547F-47F4-988C-FD6143232BCD}" sibTransId="{4B90FE22-DB56-4709-8454-796FB10E7A79}"/>
    <dgm:cxn modelId="{E2EE7690-FEC0-4C91-B34A-A0677E188B49}" type="presOf" srcId="{DFFEE1A4-452F-478C-95FD-2A31E4E095A6}" destId="{1FDEB5EB-A205-4765-B76A-4A0BC49968F1}" srcOrd="0" destOrd="0" presId="urn:microsoft.com/office/officeart/2005/8/layout/process5"/>
    <dgm:cxn modelId="{F8F12F95-724D-44D1-8BE0-609A4008F380}" type="presOf" srcId="{4B90FE22-DB56-4709-8454-796FB10E7A79}" destId="{E4F9AC24-FFA6-4B79-AF72-FD1A06406C5C}" srcOrd="0" destOrd="0" presId="urn:microsoft.com/office/officeart/2005/8/layout/process5"/>
    <dgm:cxn modelId="{74FE5DA0-C814-41D4-BAD2-09045EFA557B}" type="presOf" srcId="{A5219D4F-94FE-485C-AB9F-018B0369EF05}" destId="{6768E61E-8BA0-4D2B-8149-ED90D99D6A7F}" srcOrd="0" destOrd="0" presId="urn:microsoft.com/office/officeart/2005/8/layout/process5"/>
    <dgm:cxn modelId="{366723AC-E051-45EC-8326-DA764E9AA8C7}" type="presOf" srcId="{A5219D4F-94FE-485C-AB9F-018B0369EF05}" destId="{2969194D-28A4-4B8C-9277-F91EBE455827}" srcOrd="1" destOrd="0" presId="urn:microsoft.com/office/officeart/2005/8/layout/process5"/>
    <dgm:cxn modelId="{C1B1E0AC-72CC-44F1-B71E-73A88913A440}" type="presOf" srcId="{63A4C4D0-4B4A-44AC-88A2-7B6AA06A6847}" destId="{DB27F943-6597-47CD-B206-C2E9E95F2000}" srcOrd="0" destOrd="0" presId="urn:microsoft.com/office/officeart/2005/8/layout/process5"/>
    <dgm:cxn modelId="{0399D0B6-1703-40B4-9249-967BCE34C766}" type="presOf" srcId="{39DA0D61-936A-41A9-93B1-7AEDFB320567}" destId="{751D15EE-4175-49C1-BE65-81782807D46C}" srcOrd="1" destOrd="0" presId="urn:microsoft.com/office/officeart/2005/8/layout/process5"/>
    <dgm:cxn modelId="{1D03B0B9-0F6E-4268-8C2B-C1A2ED06759A}" type="presOf" srcId="{3FD916E8-384C-4ACC-A61C-483007159F4B}" destId="{A4B8210D-ED33-4553-8B44-56FBAE91B00F}" srcOrd="0" destOrd="0" presId="urn:microsoft.com/office/officeart/2005/8/layout/process5"/>
    <dgm:cxn modelId="{0E6EBDC4-E866-46CE-8E0E-075831AF9FDE}" srcId="{83E304B1-1DB0-4DE1-B041-6374816C64C1}" destId="{F1E7997B-040F-42B5-82F4-A631EDDAB744}" srcOrd="5" destOrd="0" parTransId="{DD73DDFC-9AF7-4EB7-970B-48B2BBFB37E6}" sibTransId="{A5219D4F-94FE-485C-AB9F-018B0369EF05}"/>
    <dgm:cxn modelId="{4A2CB9C9-7C39-48B7-89EA-14B9FBC0C253}" type="presOf" srcId="{F8DDD14F-379B-4B99-A0CE-27154FF87D74}" destId="{E93AB77D-0DC6-46D4-B294-228A915F2157}" srcOrd="0" destOrd="0" presId="urn:microsoft.com/office/officeart/2005/8/layout/process5"/>
    <dgm:cxn modelId="{B75F45CA-9EFB-4AE8-B7A5-B7C36E7BC771}" type="presOf" srcId="{7624F919-7270-412E-AE33-7294103BD516}" destId="{489201EF-2EC8-4670-AD4D-A75BF56D939A}" srcOrd="0" destOrd="0" presId="urn:microsoft.com/office/officeart/2005/8/layout/process5"/>
    <dgm:cxn modelId="{CDD5F4CF-E1E1-4A9C-A7B0-73CF34C7199D}" type="presOf" srcId="{36BBA808-10F3-4402-B3EB-566397F6FD6E}" destId="{B53EECA5-B114-4E8C-8F29-57121A4F52F5}" srcOrd="0" destOrd="0" presId="urn:microsoft.com/office/officeart/2005/8/layout/process5"/>
    <dgm:cxn modelId="{D1D8F1D0-7C51-43C3-A433-097050323DA4}" type="presOf" srcId="{6D5EA231-4A69-4C24-B07A-61CB6CA546A4}" destId="{AAF45730-FB17-436C-B968-1B3DCD21E5F8}" srcOrd="0" destOrd="0" presId="urn:microsoft.com/office/officeart/2005/8/layout/process5"/>
    <dgm:cxn modelId="{0B811BD3-38CE-4175-9DDE-33CFB682A6BA}" srcId="{83E304B1-1DB0-4DE1-B041-6374816C64C1}" destId="{7624F919-7270-412E-AE33-7294103BD516}" srcOrd="2" destOrd="0" parTransId="{D7169047-556C-4786-BFCD-8EFD2B5F654F}" sibTransId="{94664964-054A-4C25-B33F-1F60AD4281FE}"/>
    <dgm:cxn modelId="{6C54F7D4-0186-42D4-9788-0A786CF77498}" type="presOf" srcId="{63A4C4D0-4B4A-44AC-88A2-7B6AA06A6847}" destId="{DE25A272-D584-45D4-AF9C-671F5C78885E}" srcOrd="1" destOrd="0" presId="urn:microsoft.com/office/officeart/2005/8/layout/process5"/>
    <dgm:cxn modelId="{6A848BDE-3FBA-442E-BA9E-16DEF7D6BDBB}" type="presOf" srcId="{94664964-054A-4C25-B33F-1F60AD4281FE}" destId="{9A8A7E52-9586-486A-89A3-A3E96097A1EC}" srcOrd="1" destOrd="0" presId="urn:microsoft.com/office/officeart/2005/8/layout/process5"/>
    <dgm:cxn modelId="{5FD969DF-459A-4913-B721-B61BBB7F54D5}" type="presOf" srcId="{39DA0D61-936A-41A9-93B1-7AEDFB320567}" destId="{94D32480-13D6-4537-982E-8236EFE7246B}" srcOrd="0" destOrd="0" presId="urn:microsoft.com/office/officeart/2005/8/layout/process5"/>
    <dgm:cxn modelId="{80AB35E3-2C92-4B6E-815C-339FE1EA3B02}" type="presOf" srcId="{6D5EA231-4A69-4C24-B07A-61CB6CA546A4}" destId="{242D4133-42DA-4C9B-BED7-919E341FF93A}" srcOrd="1" destOrd="0" presId="urn:microsoft.com/office/officeart/2005/8/layout/process5"/>
    <dgm:cxn modelId="{80C190F1-72C1-4276-88B8-96CB35ECF246}" type="presOf" srcId="{83E304B1-1DB0-4DE1-B041-6374816C64C1}" destId="{49AB19CC-6CCB-4A5B-8A99-35E578ADB8DF}" srcOrd="0" destOrd="0" presId="urn:microsoft.com/office/officeart/2005/8/layout/process5"/>
    <dgm:cxn modelId="{5B4C32F4-A3BC-4FEC-99A6-F59FEC46EF4E}" type="presOf" srcId="{F1E7997B-040F-42B5-82F4-A631EDDAB744}" destId="{C702A6CC-2F22-4CCB-AEE0-0F862C6EB637}" srcOrd="0" destOrd="0" presId="urn:microsoft.com/office/officeart/2005/8/layout/process5"/>
    <dgm:cxn modelId="{4D56B3F0-1674-4877-8DE1-FD8D5C46D747}" type="presParOf" srcId="{49AB19CC-6CCB-4A5B-8A99-35E578ADB8DF}" destId="{1E1ADB23-6B8C-4EAF-B6A2-7697E7CD0972}" srcOrd="0" destOrd="0" presId="urn:microsoft.com/office/officeart/2005/8/layout/process5"/>
    <dgm:cxn modelId="{AD020B28-01BE-4597-B4D0-7A0BA615BD3E}" type="presParOf" srcId="{49AB19CC-6CCB-4A5B-8A99-35E578ADB8DF}" destId="{B2FCA3A4-0D75-46FF-B561-FFAF5BB78CDD}" srcOrd="1" destOrd="0" presId="urn:microsoft.com/office/officeart/2005/8/layout/process5"/>
    <dgm:cxn modelId="{9E5DBCD9-BB74-4E19-91C8-1DCB1EB0A2B6}" type="presParOf" srcId="{B2FCA3A4-0D75-46FF-B561-FFAF5BB78CDD}" destId="{B7451E00-2159-4860-948A-3390DDA0C4F8}" srcOrd="0" destOrd="0" presId="urn:microsoft.com/office/officeart/2005/8/layout/process5"/>
    <dgm:cxn modelId="{8279C67D-C89F-4392-B4DA-684621479E3E}" type="presParOf" srcId="{49AB19CC-6CCB-4A5B-8A99-35E578ADB8DF}" destId="{E93AB77D-0DC6-46D4-B294-228A915F2157}" srcOrd="2" destOrd="0" presId="urn:microsoft.com/office/officeart/2005/8/layout/process5"/>
    <dgm:cxn modelId="{F0820058-F8FE-473B-87F7-6126EA705FA2}" type="presParOf" srcId="{49AB19CC-6CCB-4A5B-8A99-35E578ADB8DF}" destId="{A4B8210D-ED33-4553-8B44-56FBAE91B00F}" srcOrd="3" destOrd="0" presId="urn:microsoft.com/office/officeart/2005/8/layout/process5"/>
    <dgm:cxn modelId="{A0E5972B-B058-4C1E-9700-C2716326A671}" type="presParOf" srcId="{A4B8210D-ED33-4553-8B44-56FBAE91B00F}" destId="{1E62D734-E564-4586-B803-AA688F7F7D0A}" srcOrd="0" destOrd="0" presId="urn:microsoft.com/office/officeart/2005/8/layout/process5"/>
    <dgm:cxn modelId="{8DC095B2-32D0-4939-AB87-2FE7354F6EA5}" type="presParOf" srcId="{49AB19CC-6CCB-4A5B-8A99-35E578ADB8DF}" destId="{489201EF-2EC8-4670-AD4D-A75BF56D939A}" srcOrd="4" destOrd="0" presId="urn:microsoft.com/office/officeart/2005/8/layout/process5"/>
    <dgm:cxn modelId="{048AA524-F0FE-4FEC-AB0B-AED913AFA7BF}" type="presParOf" srcId="{49AB19CC-6CCB-4A5B-8A99-35E578ADB8DF}" destId="{2958FE9E-3810-424C-95A9-30C4F2A121DE}" srcOrd="5" destOrd="0" presId="urn:microsoft.com/office/officeart/2005/8/layout/process5"/>
    <dgm:cxn modelId="{2EA7CB69-4A8B-4AAC-8A62-2D8378337BC5}" type="presParOf" srcId="{2958FE9E-3810-424C-95A9-30C4F2A121DE}" destId="{9A8A7E52-9586-486A-89A3-A3E96097A1EC}" srcOrd="0" destOrd="0" presId="urn:microsoft.com/office/officeart/2005/8/layout/process5"/>
    <dgm:cxn modelId="{62876B7D-EC9A-48A2-A06E-7E8EA7F16F68}" type="presParOf" srcId="{49AB19CC-6CCB-4A5B-8A99-35E578ADB8DF}" destId="{0A4B3EEE-68AD-4B52-8443-5CDA9E4D7D2E}" srcOrd="6" destOrd="0" presId="urn:microsoft.com/office/officeart/2005/8/layout/process5"/>
    <dgm:cxn modelId="{F1D4DF46-6E86-4C1F-9267-F92C51C62A46}" type="presParOf" srcId="{49AB19CC-6CCB-4A5B-8A99-35E578ADB8DF}" destId="{AAF45730-FB17-436C-B968-1B3DCD21E5F8}" srcOrd="7" destOrd="0" presId="urn:microsoft.com/office/officeart/2005/8/layout/process5"/>
    <dgm:cxn modelId="{DD857622-EB79-455C-9276-68A97595E0CB}" type="presParOf" srcId="{AAF45730-FB17-436C-B968-1B3DCD21E5F8}" destId="{242D4133-42DA-4C9B-BED7-919E341FF93A}" srcOrd="0" destOrd="0" presId="urn:microsoft.com/office/officeart/2005/8/layout/process5"/>
    <dgm:cxn modelId="{2D459B87-53A6-48C9-B87D-D2F590221F09}" type="presParOf" srcId="{49AB19CC-6CCB-4A5B-8A99-35E578ADB8DF}" destId="{D9C3D9AD-118D-433F-83D2-664CA1E4A63A}" srcOrd="8" destOrd="0" presId="urn:microsoft.com/office/officeart/2005/8/layout/process5"/>
    <dgm:cxn modelId="{450E3BE8-E5BE-42A4-8169-6AEDAC4AE05F}" type="presParOf" srcId="{49AB19CC-6CCB-4A5B-8A99-35E578ADB8DF}" destId="{DB27F943-6597-47CD-B206-C2E9E95F2000}" srcOrd="9" destOrd="0" presId="urn:microsoft.com/office/officeart/2005/8/layout/process5"/>
    <dgm:cxn modelId="{68F15026-3D03-4675-A873-3D74EBC2155A}" type="presParOf" srcId="{DB27F943-6597-47CD-B206-C2E9E95F2000}" destId="{DE25A272-D584-45D4-AF9C-671F5C78885E}" srcOrd="0" destOrd="0" presId="urn:microsoft.com/office/officeart/2005/8/layout/process5"/>
    <dgm:cxn modelId="{29153E14-6E7E-4EED-B245-51B8C0FFEEA7}" type="presParOf" srcId="{49AB19CC-6CCB-4A5B-8A99-35E578ADB8DF}" destId="{C702A6CC-2F22-4CCB-AEE0-0F862C6EB637}" srcOrd="10" destOrd="0" presId="urn:microsoft.com/office/officeart/2005/8/layout/process5"/>
    <dgm:cxn modelId="{3730B7D2-9F1C-4085-8605-CF300001E3EC}" type="presParOf" srcId="{49AB19CC-6CCB-4A5B-8A99-35E578ADB8DF}" destId="{6768E61E-8BA0-4D2B-8149-ED90D99D6A7F}" srcOrd="11" destOrd="0" presId="urn:microsoft.com/office/officeart/2005/8/layout/process5"/>
    <dgm:cxn modelId="{36E17F3B-E8F4-4140-A146-197F0FAC333F}" type="presParOf" srcId="{6768E61E-8BA0-4D2B-8149-ED90D99D6A7F}" destId="{2969194D-28A4-4B8C-9277-F91EBE455827}" srcOrd="0" destOrd="0" presId="urn:microsoft.com/office/officeart/2005/8/layout/process5"/>
    <dgm:cxn modelId="{5B70B665-1E0C-4262-A4EE-3FB67233DA1E}" type="presParOf" srcId="{49AB19CC-6CCB-4A5B-8A99-35E578ADB8DF}" destId="{B53EECA5-B114-4E8C-8F29-57121A4F52F5}" srcOrd="12" destOrd="0" presId="urn:microsoft.com/office/officeart/2005/8/layout/process5"/>
    <dgm:cxn modelId="{47F3BC88-831C-4036-85C0-149CF98AF5AD}" type="presParOf" srcId="{49AB19CC-6CCB-4A5B-8A99-35E578ADB8DF}" destId="{94D32480-13D6-4537-982E-8236EFE7246B}" srcOrd="13" destOrd="0" presId="urn:microsoft.com/office/officeart/2005/8/layout/process5"/>
    <dgm:cxn modelId="{7BF6A4D4-F076-4CDD-848A-0F533CDFD1F0}" type="presParOf" srcId="{94D32480-13D6-4537-982E-8236EFE7246B}" destId="{751D15EE-4175-49C1-BE65-81782807D46C}" srcOrd="0" destOrd="0" presId="urn:microsoft.com/office/officeart/2005/8/layout/process5"/>
    <dgm:cxn modelId="{74589464-F690-48B6-8755-15033250B6A1}" type="presParOf" srcId="{49AB19CC-6CCB-4A5B-8A99-35E578ADB8DF}" destId="{1FDEB5EB-A205-4765-B76A-4A0BC49968F1}" srcOrd="14" destOrd="0" presId="urn:microsoft.com/office/officeart/2005/8/layout/process5"/>
    <dgm:cxn modelId="{FEDAEACB-F2F4-4F3F-805E-4E1760C9C721}" type="presParOf" srcId="{49AB19CC-6CCB-4A5B-8A99-35E578ADB8DF}" destId="{E4F9AC24-FFA6-4B79-AF72-FD1A06406C5C}" srcOrd="15" destOrd="0" presId="urn:microsoft.com/office/officeart/2005/8/layout/process5"/>
    <dgm:cxn modelId="{A61568E0-801B-470F-A927-03AE6F1BEF0F}" type="presParOf" srcId="{E4F9AC24-FFA6-4B79-AF72-FD1A06406C5C}" destId="{5EAD8D4F-7089-4CBA-8450-963CFBC86868}" srcOrd="0" destOrd="0" presId="urn:microsoft.com/office/officeart/2005/8/layout/process5"/>
    <dgm:cxn modelId="{360FB6A0-800F-46EE-A857-EC4063507201}" type="presParOf" srcId="{49AB19CC-6CCB-4A5B-8A99-35E578ADB8DF}" destId="{5933F075-844F-4B61-807B-679A0F60020C}" srcOrd="1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ADB23-6B8C-4EAF-B6A2-7697E7CD0972}">
      <dsp:nvSpPr>
        <dsp:cNvPr id="0" name=""/>
        <dsp:cNvSpPr/>
      </dsp:nvSpPr>
      <dsp:spPr>
        <a:xfrm>
          <a:off x="472250" y="844"/>
          <a:ext cx="1949358" cy="1169615"/>
        </a:xfrm>
        <a:prstGeom prst="flowChartDecis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Order booking in OMS by sales officer</a:t>
          </a:r>
          <a:endParaRPr lang="en-US" sz="1200" kern="1200" dirty="0"/>
        </a:p>
      </dsp:txBody>
      <dsp:txXfrm>
        <a:off x="959590" y="293248"/>
        <a:ext cx="974679" cy="584807"/>
      </dsp:txXfrm>
    </dsp:sp>
    <dsp:sp modelId="{B2FCA3A4-0D75-46FF-B561-FFAF5BB78CDD}">
      <dsp:nvSpPr>
        <dsp:cNvPr id="0" name=""/>
        <dsp:cNvSpPr/>
      </dsp:nvSpPr>
      <dsp:spPr>
        <a:xfrm>
          <a:off x="2593152" y="343931"/>
          <a:ext cx="413264" cy="4834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a:p>
      </dsp:txBody>
      <dsp:txXfrm>
        <a:off x="2593152" y="440619"/>
        <a:ext cx="289285" cy="290064"/>
      </dsp:txXfrm>
    </dsp:sp>
    <dsp:sp modelId="{E93AB77D-0DC6-46D4-B294-228A915F2157}">
      <dsp:nvSpPr>
        <dsp:cNvPr id="0" name=""/>
        <dsp:cNvSpPr/>
      </dsp:nvSpPr>
      <dsp:spPr>
        <a:xfrm>
          <a:off x="3201352" y="844"/>
          <a:ext cx="1949358" cy="11696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 Order data syncing daily with OneBeat Server for plug-in</a:t>
          </a:r>
          <a:endParaRPr lang="en-US" sz="1200" kern="1200" dirty="0"/>
        </a:p>
      </dsp:txBody>
      <dsp:txXfrm>
        <a:off x="3235609" y="35101"/>
        <a:ext cx="1880844" cy="1101101"/>
      </dsp:txXfrm>
    </dsp:sp>
    <dsp:sp modelId="{A4B8210D-ED33-4553-8B44-56FBAE91B00F}">
      <dsp:nvSpPr>
        <dsp:cNvPr id="0" name=""/>
        <dsp:cNvSpPr/>
      </dsp:nvSpPr>
      <dsp:spPr>
        <a:xfrm>
          <a:off x="5322254" y="343931"/>
          <a:ext cx="413264" cy="4834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a:p>
      </dsp:txBody>
      <dsp:txXfrm>
        <a:off x="5322254" y="440619"/>
        <a:ext cx="289285" cy="290064"/>
      </dsp:txXfrm>
    </dsp:sp>
    <dsp:sp modelId="{489201EF-2EC8-4670-AD4D-A75BF56D939A}">
      <dsp:nvSpPr>
        <dsp:cNvPr id="0" name=""/>
        <dsp:cNvSpPr/>
      </dsp:nvSpPr>
      <dsp:spPr>
        <a:xfrm>
          <a:off x="5930454" y="844"/>
          <a:ext cx="1949358" cy="1169615"/>
        </a:xfrm>
        <a:prstGeom prst="flowChartInputOutp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Onebeat populates order data in Full-kit Management System of plug-in</a:t>
          </a:r>
          <a:endParaRPr lang="en-US" sz="1200" kern="1200" dirty="0"/>
        </a:p>
      </dsp:txBody>
      <dsp:txXfrm>
        <a:off x="6320326" y="844"/>
        <a:ext cx="1169614" cy="1169615"/>
      </dsp:txXfrm>
    </dsp:sp>
    <dsp:sp modelId="{2958FE9E-3810-424C-95A9-30C4F2A121DE}">
      <dsp:nvSpPr>
        <dsp:cNvPr id="0" name=""/>
        <dsp:cNvSpPr/>
      </dsp:nvSpPr>
      <dsp:spPr>
        <a:xfrm rot="5400000">
          <a:off x="6698502" y="1306914"/>
          <a:ext cx="413264" cy="4834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a:p>
      </dsp:txBody>
      <dsp:txXfrm rot="-5400000">
        <a:off x="6760103" y="1342002"/>
        <a:ext cx="290064" cy="289285"/>
      </dsp:txXfrm>
    </dsp:sp>
    <dsp:sp modelId="{0A4B3EEE-68AD-4B52-8443-5CDA9E4D7D2E}">
      <dsp:nvSpPr>
        <dsp:cNvPr id="0" name=""/>
        <dsp:cNvSpPr/>
      </dsp:nvSpPr>
      <dsp:spPr>
        <a:xfrm>
          <a:off x="5930454" y="1950202"/>
          <a:ext cx="1949358" cy="1169615"/>
        </a:xfrm>
        <a:prstGeom prst="flowChartDisplay">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Full-kit elements Access Control based on Function, Location, Hierarchy</a:t>
          </a:r>
          <a:endParaRPr lang="en-US" sz="1200" kern="1200" dirty="0"/>
        </a:p>
      </dsp:txBody>
      <dsp:txXfrm>
        <a:off x="6255347" y="1950202"/>
        <a:ext cx="1299572" cy="1169615"/>
      </dsp:txXfrm>
    </dsp:sp>
    <dsp:sp modelId="{AAF45730-FB17-436C-B968-1B3DCD21E5F8}">
      <dsp:nvSpPr>
        <dsp:cNvPr id="0" name=""/>
        <dsp:cNvSpPr/>
      </dsp:nvSpPr>
      <dsp:spPr>
        <a:xfrm rot="10800000">
          <a:off x="5305851" y="2293290"/>
          <a:ext cx="441386" cy="4834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a:p>
      </dsp:txBody>
      <dsp:txXfrm rot="10800000">
        <a:off x="5438267" y="2389978"/>
        <a:ext cx="308970" cy="290064"/>
      </dsp:txXfrm>
    </dsp:sp>
    <dsp:sp modelId="{D9C3D9AD-118D-433F-83D2-664CA1E4A63A}">
      <dsp:nvSpPr>
        <dsp:cNvPr id="0" name=""/>
        <dsp:cNvSpPr/>
      </dsp:nvSpPr>
      <dsp:spPr>
        <a:xfrm>
          <a:off x="3148291" y="1950202"/>
          <a:ext cx="1949358" cy="1169615"/>
        </a:xfrm>
        <a:prstGeom prst="flowChartManualInp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Users can update their assigned full-kit elements for each  order </a:t>
          </a:r>
          <a:endParaRPr lang="en-US" sz="1200" kern="1200" dirty="0"/>
        </a:p>
      </dsp:txBody>
      <dsp:txXfrm>
        <a:off x="3148291" y="2184125"/>
        <a:ext cx="1949358" cy="935692"/>
      </dsp:txXfrm>
    </dsp:sp>
    <dsp:sp modelId="{DB27F943-6597-47CD-B206-C2E9E95F2000}">
      <dsp:nvSpPr>
        <dsp:cNvPr id="0" name=""/>
        <dsp:cNvSpPr/>
      </dsp:nvSpPr>
      <dsp:spPr>
        <a:xfrm rot="10800000">
          <a:off x="2603279" y="2293290"/>
          <a:ext cx="385141" cy="4834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a:p>
      </dsp:txBody>
      <dsp:txXfrm rot="10800000">
        <a:off x="2718821" y="2389978"/>
        <a:ext cx="269599" cy="290064"/>
      </dsp:txXfrm>
    </dsp:sp>
    <dsp:sp modelId="{C702A6CC-2F22-4CCB-AEE0-0F862C6EB637}">
      <dsp:nvSpPr>
        <dsp:cNvPr id="0" name=""/>
        <dsp:cNvSpPr/>
      </dsp:nvSpPr>
      <dsp:spPr>
        <a:xfrm>
          <a:off x="472250" y="1950202"/>
          <a:ext cx="1949358" cy="11696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Sequential Access based on completion of FK1 &amp; FK2</a:t>
          </a:r>
          <a:endParaRPr lang="en-US" sz="1200" kern="1200" dirty="0"/>
        </a:p>
      </dsp:txBody>
      <dsp:txXfrm>
        <a:off x="506507" y="1984459"/>
        <a:ext cx="1880844" cy="1101101"/>
      </dsp:txXfrm>
    </dsp:sp>
    <dsp:sp modelId="{6768E61E-8BA0-4D2B-8149-ED90D99D6A7F}">
      <dsp:nvSpPr>
        <dsp:cNvPr id="0" name=""/>
        <dsp:cNvSpPr/>
      </dsp:nvSpPr>
      <dsp:spPr>
        <a:xfrm rot="5400000">
          <a:off x="1240297" y="3256273"/>
          <a:ext cx="413264" cy="4834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a:p>
      </dsp:txBody>
      <dsp:txXfrm rot="-5400000">
        <a:off x="1301898" y="3291361"/>
        <a:ext cx="290064" cy="289285"/>
      </dsp:txXfrm>
    </dsp:sp>
    <dsp:sp modelId="{B53EECA5-B114-4E8C-8F29-57121A4F52F5}">
      <dsp:nvSpPr>
        <dsp:cNvPr id="0" name=""/>
        <dsp:cNvSpPr/>
      </dsp:nvSpPr>
      <dsp:spPr>
        <a:xfrm>
          <a:off x="472250" y="3899561"/>
          <a:ext cx="1949358" cy="11696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OneBeat MIS based on Full-kit Completion Stages</a:t>
          </a:r>
          <a:endParaRPr lang="en-US" sz="1200" kern="1200" dirty="0"/>
        </a:p>
      </dsp:txBody>
      <dsp:txXfrm>
        <a:off x="506507" y="3933818"/>
        <a:ext cx="1880844" cy="1101101"/>
      </dsp:txXfrm>
    </dsp:sp>
    <dsp:sp modelId="{94D32480-13D6-4537-982E-8236EFE7246B}">
      <dsp:nvSpPr>
        <dsp:cNvPr id="0" name=""/>
        <dsp:cNvSpPr/>
      </dsp:nvSpPr>
      <dsp:spPr>
        <a:xfrm>
          <a:off x="2593152" y="4242648"/>
          <a:ext cx="413264" cy="4834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a:p>
      </dsp:txBody>
      <dsp:txXfrm>
        <a:off x="2593152" y="4339336"/>
        <a:ext cx="289285" cy="290064"/>
      </dsp:txXfrm>
    </dsp:sp>
    <dsp:sp modelId="{1FDEB5EB-A205-4765-B76A-4A0BC49968F1}">
      <dsp:nvSpPr>
        <dsp:cNvPr id="0" name=""/>
        <dsp:cNvSpPr/>
      </dsp:nvSpPr>
      <dsp:spPr>
        <a:xfrm>
          <a:off x="3201352" y="3899561"/>
          <a:ext cx="1949358" cy="11696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Plant/Function Heads can focus on orders with stage-by-stage pending completion of Full-kits</a:t>
          </a:r>
          <a:endParaRPr lang="en-US" sz="1200" kern="1200" dirty="0"/>
        </a:p>
      </dsp:txBody>
      <dsp:txXfrm>
        <a:off x="3235609" y="3933818"/>
        <a:ext cx="1880844" cy="1101101"/>
      </dsp:txXfrm>
    </dsp:sp>
    <dsp:sp modelId="{E4F9AC24-FFA6-4B79-AF72-FD1A06406C5C}">
      <dsp:nvSpPr>
        <dsp:cNvPr id="0" name=""/>
        <dsp:cNvSpPr/>
      </dsp:nvSpPr>
      <dsp:spPr>
        <a:xfrm>
          <a:off x="5322254" y="4242648"/>
          <a:ext cx="413264" cy="4834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a:p>
      </dsp:txBody>
      <dsp:txXfrm>
        <a:off x="5322254" y="4339336"/>
        <a:ext cx="289285" cy="290064"/>
      </dsp:txXfrm>
    </dsp:sp>
    <dsp:sp modelId="{5933F075-844F-4B61-807B-679A0F60020C}">
      <dsp:nvSpPr>
        <dsp:cNvPr id="0" name=""/>
        <dsp:cNvSpPr/>
      </dsp:nvSpPr>
      <dsp:spPr>
        <a:xfrm>
          <a:off x="5930454" y="3899561"/>
          <a:ext cx="1949358" cy="11696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Periodic Review @ HO (POOGI)</a:t>
          </a:r>
          <a:endParaRPr lang="en-US" sz="1200" kern="1200" dirty="0"/>
        </a:p>
      </dsp:txBody>
      <dsp:txXfrm>
        <a:off x="5964711" y="3933818"/>
        <a:ext cx="1880844" cy="1101101"/>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0FA61C-3D60-4C43-87F7-3C8BDFFE4297}" type="datetimeFigureOut">
              <a:rPr lang="en-US" smtClean="0"/>
              <a:pPr/>
              <a:t>16/05/2022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2582F9-88BF-9444-ABCF-04CA1F10C8C2}" type="slidenum">
              <a:rPr lang="en-US" smtClean="0"/>
              <a:pPr/>
              <a:t>‹#›</a:t>
            </a:fld>
            <a:endParaRPr lang="en-US"/>
          </a:p>
        </p:txBody>
      </p:sp>
    </p:spTree>
    <p:extLst>
      <p:ext uri="{BB962C8B-B14F-4D97-AF65-F5344CB8AC3E}">
        <p14:creationId xmlns:p14="http://schemas.microsoft.com/office/powerpoint/2010/main" val="2883632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2582F9-88BF-9444-ABCF-04CA1F10C8C2}" type="slidenum">
              <a:rPr lang="en-US" smtClean="0"/>
              <a:pPr/>
              <a:t>5</a:t>
            </a:fld>
            <a:endParaRPr lang="en-US"/>
          </a:p>
        </p:txBody>
      </p:sp>
    </p:spTree>
    <p:extLst>
      <p:ext uri="{BB962C8B-B14F-4D97-AF65-F5344CB8AC3E}">
        <p14:creationId xmlns:p14="http://schemas.microsoft.com/office/powerpoint/2010/main" val="593167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2582F9-88BF-9444-ABCF-04CA1F10C8C2}" type="slidenum">
              <a:rPr lang="en-US" smtClean="0"/>
              <a:pPr/>
              <a:t>6</a:t>
            </a:fld>
            <a:endParaRPr lang="en-US"/>
          </a:p>
        </p:txBody>
      </p:sp>
    </p:spTree>
    <p:extLst>
      <p:ext uri="{BB962C8B-B14F-4D97-AF65-F5344CB8AC3E}">
        <p14:creationId xmlns:p14="http://schemas.microsoft.com/office/powerpoint/2010/main" val="1681707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9" name="Table Placeholder 8"/>
          <p:cNvSpPr>
            <a:spLocks noGrp="1"/>
          </p:cNvSpPr>
          <p:nvPr>
            <p:ph type="tbl" sz="quarter" idx="10"/>
          </p:nvPr>
        </p:nvSpPr>
        <p:spPr>
          <a:xfrm>
            <a:off x="457200" y="1822450"/>
            <a:ext cx="8229600" cy="3825315"/>
          </a:xfrm>
          <a:prstGeom prst="rect">
            <a:avLst/>
          </a:prstGeom>
        </p:spPr>
        <p:txBody>
          <a:bodyPr vert="horz"/>
          <a:lstStyle/>
          <a:p>
            <a:r>
              <a:rPr lang="en-US"/>
              <a:t>Click icon to add table</a:t>
            </a:r>
            <a:endParaRPr lang="en-US" dirty="0"/>
          </a:p>
        </p:txBody>
      </p:sp>
      <p:sp>
        <p:nvSpPr>
          <p:cNvPr id="10" name="Title 1"/>
          <p:cNvSpPr>
            <a:spLocks noGrp="1"/>
          </p:cNvSpPr>
          <p:nvPr>
            <p:ph type="title" hasCustomPrompt="1"/>
          </p:nvPr>
        </p:nvSpPr>
        <p:spPr>
          <a:xfrm>
            <a:off x="457200" y="274638"/>
            <a:ext cx="8229600" cy="1143000"/>
          </a:xfrm>
          <a:prstGeom prst="rect">
            <a:avLst/>
          </a:prstGeom>
        </p:spPr>
        <p:txBody>
          <a:bodyPr>
            <a:normAutofit/>
          </a:bodyPr>
          <a:lstStyle>
            <a:lvl1pPr algn="l">
              <a:defRPr sz="2700" b="0">
                <a:latin typeface="Arial"/>
                <a:cs typeface="Arial"/>
              </a:defRPr>
            </a:lvl1pPr>
          </a:lstStyle>
          <a:p>
            <a:r>
              <a:rPr lang="en-CA" dirty="0"/>
              <a:t>Title</a:t>
            </a:r>
            <a:endParaRPr lang="en-US" dirty="0"/>
          </a:p>
        </p:txBody>
      </p:sp>
    </p:spTree>
    <p:extLst>
      <p:ext uri="{BB962C8B-B14F-4D97-AF65-F5344CB8AC3E}">
        <p14:creationId xmlns:p14="http://schemas.microsoft.com/office/powerpoint/2010/main" val="2325005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57200" y="274638"/>
            <a:ext cx="8229600" cy="1143000"/>
          </a:xfrm>
          <a:prstGeom prst="rect">
            <a:avLst/>
          </a:prstGeom>
        </p:spPr>
        <p:txBody>
          <a:bodyPr>
            <a:normAutofit/>
          </a:bodyPr>
          <a:lstStyle>
            <a:lvl1pPr algn="l">
              <a:defRPr sz="2700" b="0">
                <a:latin typeface="Arial"/>
                <a:cs typeface="Arial"/>
              </a:defRPr>
            </a:lvl1pPr>
          </a:lstStyle>
          <a:p>
            <a:r>
              <a:rPr lang="en-CA" dirty="0"/>
              <a:t>Title</a:t>
            </a:r>
            <a:endParaRPr lang="en-US" dirty="0"/>
          </a:p>
        </p:txBody>
      </p:sp>
      <p:sp>
        <p:nvSpPr>
          <p:cNvPr id="6" name="Chart Placeholder 5"/>
          <p:cNvSpPr>
            <a:spLocks noGrp="1"/>
          </p:cNvSpPr>
          <p:nvPr>
            <p:ph type="chart" sz="quarter" idx="11"/>
          </p:nvPr>
        </p:nvSpPr>
        <p:spPr>
          <a:xfrm>
            <a:off x="457200" y="1822450"/>
            <a:ext cx="8229600" cy="3646488"/>
          </a:xfrm>
          <a:prstGeom prst="rect">
            <a:avLst/>
          </a:prstGeom>
        </p:spPr>
        <p:txBody>
          <a:bodyPr vert="horz"/>
          <a:lstStyle/>
          <a:p>
            <a:r>
              <a:rPr lang="en-US"/>
              <a:t>Click icon to add chart</a:t>
            </a:r>
            <a:endParaRPr lang="en-US" dirty="0"/>
          </a:p>
        </p:txBody>
      </p:sp>
    </p:spTree>
    <p:extLst>
      <p:ext uri="{BB962C8B-B14F-4D97-AF65-F5344CB8AC3E}">
        <p14:creationId xmlns:p14="http://schemas.microsoft.com/office/powerpoint/2010/main" val="3262717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ull Text Layout">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57200" y="274638"/>
            <a:ext cx="8229600" cy="1143000"/>
          </a:xfrm>
          <a:prstGeom prst="rect">
            <a:avLst/>
          </a:prstGeom>
        </p:spPr>
        <p:txBody>
          <a:bodyPr>
            <a:normAutofit/>
          </a:bodyPr>
          <a:lstStyle>
            <a:lvl1pPr algn="l">
              <a:defRPr sz="2700" b="0">
                <a:latin typeface="Arial"/>
                <a:cs typeface="Arial"/>
              </a:defRPr>
            </a:lvl1pPr>
          </a:lstStyle>
          <a:p>
            <a:r>
              <a:rPr lang="en-CA" dirty="0"/>
              <a:t>Title</a:t>
            </a:r>
            <a:endParaRPr lang="en-US" dirty="0"/>
          </a:p>
        </p:txBody>
      </p:sp>
      <p:sp>
        <p:nvSpPr>
          <p:cNvPr id="6" name="Text Placeholder 5"/>
          <p:cNvSpPr>
            <a:spLocks noGrp="1"/>
          </p:cNvSpPr>
          <p:nvPr>
            <p:ph type="body" sz="quarter" idx="11"/>
          </p:nvPr>
        </p:nvSpPr>
        <p:spPr>
          <a:xfrm>
            <a:off x="457200" y="1792568"/>
            <a:ext cx="8229600" cy="4019550"/>
          </a:xfrm>
          <a:prstGeom prst="rect">
            <a:avLst/>
          </a:prstGeom>
        </p:spPr>
        <p:txBody>
          <a:bodyPr vert="horz"/>
          <a:lstStyle>
            <a:lvl1pPr>
              <a:defRPr>
                <a:latin typeface="Arial"/>
                <a:cs typeface="Arial"/>
              </a:defRPr>
            </a:lvl1pPr>
            <a:lvl2pPr>
              <a:defRPr>
                <a:solidFill>
                  <a:schemeClr val="bg2"/>
                </a:solidFill>
                <a:latin typeface="Arial"/>
                <a:cs typeface="Arial"/>
              </a:defRPr>
            </a:lvl2pPr>
            <a:lvl3pPr>
              <a:defRPr>
                <a:solidFill>
                  <a:schemeClr val="bg2"/>
                </a:solidFill>
                <a:latin typeface="Arial"/>
                <a:cs typeface="Arial"/>
              </a:defRPr>
            </a:lvl3pPr>
            <a:lvl4pPr>
              <a:defRPr>
                <a:solidFill>
                  <a:schemeClr val="bg2"/>
                </a:solidFill>
                <a:latin typeface="Arial"/>
                <a:cs typeface="Arial"/>
              </a:defRPr>
            </a:lvl4pPr>
            <a:lvl5pPr>
              <a:defRPr>
                <a:solidFill>
                  <a:schemeClr val="bg2"/>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5148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457200" y="274638"/>
            <a:ext cx="8229600" cy="1143000"/>
          </a:xfrm>
          <a:prstGeom prst="rect">
            <a:avLst/>
          </a:prstGeom>
        </p:spPr>
        <p:txBody>
          <a:bodyPr>
            <a:normAutofit/>
          </a:bodyPr>
          <a:lstStyle>
            <a:lvl1pPr algn="l">
              <a:defRPr sz="2700" b="0">
                <a:latin typeface="Arial"/>
                <a:cs typeface="Arial"/>
              </a:defRPr>
            </a:lvl1pPr>
          </a:lstStyle>
          <a:p>
            <a:r>
              <a:rPr lang="en-CA" dirty="0"/>
              <a:t>Title</a:t>
            </a:r>
            <a:endParaRPr lang="en-US" dirty="0"/>
          </a:p>
        </p:txBody>
      </p:sp>
    </p:spTree>
    <p:extLst>
      <p:ext uri="{BB962C8B-B14F-4D97-AF65-F5344CB8AC3E}">
        <p14:creationId xmlns:p14="http://schemas.microsoft.com/office/powerpoint/2010/main" val="785328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GB"/>
          </a:p>
        </p:txBody>
      </p:sp>
    </p:spTree>
    <p:extLst>
      <p:ext uri="{BB962C8B-B14F-4D97-AF65-F5344CB8AC3E}">
        <p14:creationId xmlns:p14="http://schemas.microsoft.com/office/powerpoint/2010/main" val="4054879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457200" y="1600202"/>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BD5A0C2B-19B8-48D3-9624-9844D9431D7D}" type="datetimeFigureOut">
              <a:rPr lang="en-US" smtClean="0"/>
              <a:pPr/>
              <a:t>16/05/2022</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EE611DE2-1C0F-4029-8958-B24879A0A8B3}" type="slidenum">
              <a:rPr lang="en-US" smtClean="0"/>
              <a:pPr/>
              <a:t>‹#›</a:t>
            </a:fld>
            <a:endParaRPr lang="en-US"/>
          </a:p>
        </p:txBody>
      </p:sp>
    </p:spTree>
    <p:extLst>
      <p:ext uri="{BB962C8B-B14F-4D97-AF65-F5344CB8AC3E}">
        <p14:creationId xmlns:p14="http://schemas.microsoft.com/office/powerpoint/2010/main" val="1545950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7622083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5FCD8B-45B9-4E66-B23A-7E50DFF56263}"/>
              </a:ext>
            </a:extLst>
          </p:cNvPr>
          <p:cNvSpPr txBox="1">
            <a:spLocks/>
          </p:cNvSpPr>
          <p:nvPr/>
        </p:nvSpPr>
        <p:spPr>
          <a:xfrm>
            <a:off x="1143000" y="1319515"/>
            <a:ext cx="6858000" cy="3784920"/>
          </a:xfrm>
          <a:prstGeom prst="rect">
            <a:avLst/>
          </a:prstGeom>
        </p:spPr>
        <p:txBody>
          <a:bodyPr>
            <a:normAutofit fontScale="97500"/>
          </a:bodyPr>
          <a:lstStyle>
            <a:lvl1pPr algn="l" defTabSz="342900" rtl="0" eaLnBrk="1" latinLnBrk="0" hangingPunct="1">
              <a:spcBef>
                <a:spcPct val="0"/>
              </a:spcBef>
              <a:buNone/>
              <a:defRPr sz="2700" b="0" kern="1200">
                <a:solidFill>
                  <a:schemeClr val="tx1"/>
                </a:solidFill>
                <a:latin typeface="Arial"/>
                <a:ea typeface="+mj-ea"/>
                <a:cs typeface="Arial"/>
              </a:defRPr>
            </a:lvl1pPr>
          </a:lstStyle>
          <a:p>
            <a:pPr algn="ctr"/>
            <a:endParaRPr lang="en-IN" sz="2800" dirty="0">
              <a:latin typeface="Amasis MT Pro Medium" panose="02040604050005020304" pitchFamily="18" charset="0"/>
            </a:endParaRPr>
          </a:p>
        </p:txBody>
      </p:sp>
      <p:sp>
        <p:nvSpPr>
          <p:cNvPr id="8" name="TextBox 7">
            <a:extLst>
              <a:ext uri="{FF2B5EF4-FFF2-40B4-BE49-F238E27FC236}">
                <a16:creationId xmlns:a16="http://schemas.microsoft.com/office/drawing/2014/main" id="{B03D8285-16AC-4089-822D-6867D4867D82}"/>
              </a:ext>
            </a:extLst>
          </p:cNvPr>
          <p:cNvSpPr txBox="1"/>
          <p:nvPr/>
        </p:nvSpPr>
        <p:spPr>
          <a:xfrm>
            <a:off x="449943" y="1619752"/>
            <a:ext cx="8331199" cy="2769989"/>
          </a:xfrm>
          <a:prstGeom prst="rect">
            <a:avLst/>
          </a:prstGeom>
          <a:noFill/>
        </p:spPr>
        <p:txBody>
          <a:bodyPr wrap="square">
            <a:spAutoFit/>
          </a:bodyPr>
          <a:lstStyle/>
          <a:p>
            <a:pPr algn="ctr">
              <a:lnSpc>
                <a:spcPct val="150000"/>
              </a:lnSpc>
            </a:pPr>
            <a:r>
              <a:rPr lang="en-IN" sz="4400" b="1" dirty="0">
                <a:latin typeface="+mj-lt"/>
              </a:rPr>
              <a:t>Prism Johnson Ltd. – RMC Division</a:t>
            </a:r>
          </a:p>
          <a:p>
            <a:pPr algn="ctr">
              <a:lnSpc>
                <a:spcPct val="150000"/>
              </a:lnSpc>
            </a:pPr>
            <a:br>
              <a:rPr lang="en-IN" sz="3600" dirty="0">
                <a:latin typeface="Amasis MT Pro Medium" panose="02040604050005020304" pitchFamily="18" charset="0"/>
              </a:rPr>
            </a:br>
            <a:r>
              <a:rPr lang="en-IN" sz="3600" dirty="0">
                <a:latin typeface="Amasis MT Pro Medium" panose="02040604050005020304" pitchFamily="18" charset="0"/>
              </a:rPr>
              <a:t>OneBeat Implementation</a:t>
            </a:r>
          </a:p>
        </p:txBody>
      </p:sp>
      <p:pic>
        <p:nvPicPr>
          <p:cNvPr id="5" name="Picture 4">
            <a:extLst>
              <a:ext uri="{FF2B5EF4-FFF2-40B4-BE49-F238E27FC236}">
                <a16:creationId xmlns:a16="http://schemas.microsoft.com/office/drawing/2014/main" id="{EB2C7AA4-235C-4BEA-AF0D-6D7DF41FD34A}"/>
              </a:ext>
            </a:extLst>
          </p:cNvPr>
          <p:cNvPicPr>
            <a:picLocks noChangeAspect="1"/>
          </p:cNvPicPr>
          <p:nvPr/>
        </p:nvPicPr>
        <p:blipFill>
          <a:blip r:embed="rId2"/>
          <a:stretch>
            <a:fillRect/>
          </a:stretch>
        </p:blipFill>
        <p:spPr>
          <a:xfrm>
            <a:off x="8001000" y="162108"/>
            <a:ext cx="990600" cy="742950"/>
          </a:xfrm>
          <a:prstGeom prst="rect">
            <a:avLst/>
          </a:prstGeom>
        </p:spPr>
      </p:pic>
    </p:spTree>
    <p:extLst>
      <p:ext uri="{BB962C8B-B14F-4D97-AF65-F5344CB8AC3E}">
        <p14:creationId xmlns:p14="http://schemas.microsoft.com/office/powerpoint/2010/main" val="4099927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5FCD8B-45B9-4E66-B23A-7E50DFF56263}"/>
              </a:ext>
            </a:extLst>
          </p:cNvPr>
          <p:cNvSpPr txBox="1">
            <a:spLocks/>
          </p:cNvSpPr>
          <p:nvPr/>
        </p:nvSpPr>
        <p:spPr>
          <a:xfrm>
            <a:off x="188687" y="957943"/>
            <a:ext cx="8838636" cy="4455886"/>
          </a:xfrm>
          <a:prstGeom prst="rect">
            <a:avLst/>
          </a:prstGeom>
        </p:spPr>
        <p:txBody>
          <a:bodyPr>
            <a:normAutofit fontScale="97500"/>
          </a:bodyPr>
          <a:lstStyle>
            <a:lvl1pPr algn="l" defTabSz="342900" rtl="0" eaLnBrk="1" latinLnBrk="0" hangingPunct="1">
              <a:spcBef>
                <a:spcPct val="0"/>
              </a:spcBef>
              <a:buNone/>
              <a:defRPr sz="2700" b="0" kern="1200">
                <a:solidFill>
                  <a:schemeClr val="tx1"/>
                </a:solidFill>
                <a:latin typeface="Arial"/>
                <a:ea typeface="+mj-ea"/>
                <a:cs typeface="Arial"/>
              </a:defRPr>
            </a:lvl1pPr>
          </a:lstStyle>
          <a:p>
            <a:pPr algn="ctr"/>
            <a:endParaRPr lang="en-IN" sz="2800" dirty="0">
              <a:latin typeface="Amasis MT Pro Medium" panose="02040604050005020304" pitchFamily="18" charset="0"/>
            </a:endParaRPr>
          </a:p>
        </p:txBody>
      </p:sp>
      <p:sp>
        <p:nvSpPr>
          <p:cNvPr id="3" name="TextBox 2">
            <a:extLst>
              <a:ext uri="{FF2B5EF4-FFF2-40B4-BE49-F238E27FC236}">
                <a16:creationId xmlns:a16="http://schemas.microsoft.com/office/drawing/2014/main" id="{8530E9C3-26D0-4914-9A56-E21E3B9E0BB0}"/>
              </a:ext>
            </a:extLst>
          </p:cNvPr>
          <p:cNvSpPr txBox="1"/>
          <p:nvPr/>
        </p:nvSpPr>
        <p:spPr>
          <a:xfrm>
            <a:off x="362855" y="522502"/>
            <a:ext cx="8548913" cy="5355312"/>
          </a:xfrm>
          <a:prstGeom prst="rect">
            <a:avLst/>
          </a:prstGeom>
          <a:noFill/>
        </p:spPr>
        <p:txBody>
          <a:bodyPr wrap="square" rtlCol="0">
            <a:spAutoFit/>
          </a:bodyPr>
          <a:lstStyle/>
          <a:p>
            <a:r>
              <a:rPr lang="en-US" b="1" dirty="0">
                <a:solidFill>
                  <a:srgbClr val="002060"/>
                </a:solidFill>
              </a:rPr>
              <a:t>Introduction:</a:t>
            </a:r>
          </a:p>
          <a:p>
            <a:endParaRPr lang="en-US" dirty="0">
              <a:solidFill>
                <a:srgbClr val="002060"/>
              </a:solidFill>
            </a:endParaRPr>
          </a:p>
          <a:p>
            <a:r>
              <a:rPr lang="en-US" dirty="0">
                <a:solidFill>
                  <a:srgbClr val="002060"/>
                </a:solidFill>
              </a:rPr>
              <a:t>In an organization managing proper flow from receipt of Sales Order to Dispatch is one of the tedious process of all the processes. In case there is no proper flow are maintained that can result in good amount of Revenue Losses due to un-fulfilled Sales Orders.</a:t>
            </a:r>
          </a:p>
          <a:p>
            <a:endParaRPr lang="en-US" dirty="0">
              <a:solidFill>
                <a:srgbClr val="002060"/>
              </a:solidFill>
            </a:endParaRPr>
          </a:p>
          <a:p>
            <a:r>
              <a:rPr lang="en-US" dirty="0">
                <a:solidFill>
                  <a:srgbClr val="002060"/>
                </a:solidFill>
              </a:rPr>
              <a:t>Few challenges faced in maintaining proper flow from Sales Order to Dispatch are as indicated below:</a:t>
            </a:r>
          </a:p>
          <a:p>
            <a:pPr marL="742950" lvl="1" indent="-285750">
              <a:buFont typeface="Wingdings" panose="05000000000000000000" pitchFamily="2" charset="2"/>
              <a:buChar char="Ø"/>
            </a:pPr>
            <a:r>
              <a:rPr lang="en-US" dirty="0">
                <a:solidFill>
                  <a:srgbClr val="002060"/>
                </a:solidFill>
              </a:rPr>
              <a:t>Co-ordination between departments</a:t>
            </a:r>
          </a:p>
          <a:p>
            <a:pPr marL="742950" lvl="1" indent="-285750">
              <a:buFont typeface="Wingdings" panose="05000000000000000000" pitchFamily="2" charset="2"/>
              <a:buChar char="Ø"/>
            </a:pPr>
            <a:r>
              <a:rPr lang="en-US" dirty="0">
                <a:solidFill>
                  <a:srgbClr val="002060"/>
                </a:solidFill>
              </a:rPr>
              <a:t>Non-availability of raw materials</a:t>
            </a:r>
          </a:p>
          <a:p>
            <a:pPr marL="742950" lvl="1" indent="-285750">
              <a:buFont typeface="Wingdings" panose="05000000000000000000" pitchFamily="2" charset="2"/>
              <a:buChar char="Ø"/>
            </a:pPr>
            <a:r>
              <a:rPr lang="en-US" dirty="0">
                <a:solidFill>
                  <a:srgbClr val="002060"/>
                </a:solidFill>
              </a:rPr>
              <a:t>Non-availability of resources required i.e. manpower and machinery</a:t>
            </a:r>
          </a:p>
          <a:p>
            <a:pPr marL="742950" lvl="1" indent="-285750">
              <a:buFont typeface="Wingdings" panose="05000000000000000000" pitchFamily="2" charset="2"/>
              <a:buChar char="Ø"/>
            </a:pPr>
            <a:r>
              <a:rPr lang="en-US" dirty="0">
                <a:solidFill>
                  <a:srgbClr val="002060"/>
                </a:solidFill>
              </a:rPr>
              <a:t>Non-site readiness</a:t>
            </a:r>
          </a:p>
          <a:p>
            <a:endParaRPr lang="en-US" dirty="0">
              <a:solidFill>
                <a:srgbClr val="002060"/>
              </a:solidFill>
            </a:endParaRPr>
          </a:p>
          <a:p>
            <a:r>
              <a:rPr lang="en-US" dirty="0">
                <a:solidFill>
                  <a:srgbClr val="002060"/>
                </a:solidFill>
              </a:rPr>
              <a:t>Few benefits of implementation of Onebeat:</a:t>
            </a:r>
          </a:p>
          <a:p>
            <a:pPr marL="742950" lvl="1" indent="-285750">
              <a:buFont typeface="Wingdings" panose="05000000000000000000" pitchFamily="2" charset="2"/>
              <a:buChar char="Ø"/>
            </a:pPr>
            <a:r>
              <a:rPr lang="en-US" dirty="0">
                <a:solidFill>
                  <a:srgbClr val="002060"/>
                </a:solidFill>
              </a:rPr>
              <a:t>Streamlined flow</a:t>
            </a:r>
          </a:p>
          <a:p>
            <a:pPr marL="742950" lvl="1" indent="-285750">
              <a:buFont typeface="Wingdings" panose="05000000000000000000" pitchFamily="2" charset="2"/>
              <a:buChar char="Ø"/>
            </a:pPr>
            <a:r>
              <a:rPr lang="en-US" dirty="0">
                <a:solidFill>
                  <a:srgbClr val="002060"/>
                </a:solidFill>
              </a:rPr>
              <a:t>Reduce errors due to manual processes. </a:t>
            </a:r>
          </a:p>
          <a:p>
            <a:pPr marL="742950" lvl="1" indent="-285750">
              <a:buFont typeface="Wingdings" panose="05000000000000000000" pitchFamily="2" charset="2"/>
              <a:buChar char="Ø"/>
            </a:pPr>
            <a:r>
              <a:rPr lang="en-US" dirty="0">
                <a:solidFill>
                  <a:srgbClr val="002060"/>
                </a:solidFill>
              </a:rPr>
              <a:t>Manage, view, and track all Sales Order status within a centralized repository.</a:t>
            </a:r>
          </a:p>
          <a:p>
            <a:pPr marL="742950" lvl="1" indent="-285750">
              <a:buFont typeface="Wingdings" panose="05000000000000000000" pitchFamily="2" charset="2"/>
              <a:buChar char="Ø"/>
            </a:pPr>
            <a:r>
              <a:rPr lang="en-US" dirty="0">
                <a:solidFill>
                  <a:srgbClr val="002060"/>
                </a:solidFill>
              </a:rPr>
              <a:t>Connected processes.</a:t>
            </a:r>
          </a:p>
          <a:p>
            <a:pPr marL="742950" lvl="1" indent="-285750">
              <a:buFont typeface="Wingdings" panose="05000000000000000000" pitchFamily="2" charset="2"/>
              <a:buChar char="Ø"/>
            </a:pPr>
            <a:r>
              <a:rPr lang="en-US" dirty="0">
                <a:solidFill>
                  <a:srgbClr val="002060"/>
                </a:solidFill>
              </a:rPr>
              <a:t>Increased visibility.</a:t>
            </a:r>
          </a:p>
        </p:txBody>
      </p:sp>
      <p:pic>
        <p:nvPicPr>
          <p:cNvPr id="5" name="Picture 4">
            <a:extLst>
              <a:ext uri="{FF2B5EF4-FFF2-40B4-BE49-F238E27FC236}">
                <a16:creationId xmlns:a16="http://schemas.microsoft.com/office/drawing/2014/main" id="{09462876-6BC7-4C10-8946-7444BBD705DA}"/>
              </a:ext>
            </a:extLst>
          </p:cNvPr>
          <p:cNvPicPr>
            <a:picLocks noChangeAspect="1"/>
          </p:cNvPicPr>
          <p:nvPr/>
        </p:nvPicPr>
        <p:blipFill>
          <a:blip r:embed="rId2"/>
          <a:stretch>
            <a:fillRect/>
          </a:stretch>
        </p:blipFill>
        <p:spPr>
          <a:xfrm>
            <a:off x="8001000" y="162108"/>
            <a:ext cx="990600" cy="742950"/>
          </a:xfrm>
          <a:prstGeom prst="rect">
            <a:avLst/>
          </a:prstGeom>
        </p:spPr>
      </p:pic>
    </p:spTree>
    <p:extLst>
      <p:ext uri="{BB962C8B-B14F-4D97-AF65-F5344CB8AC3E}">
        <p14:creationId xmlns:p14="http://schemas.microsoft.com/office/powerpoint/2010/main" val="1327449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5FCD8B-45B9-4E66-B23A-7E50DFF56263}"/>
              </a:ext>
            </a:extLst>
          </p:cNvPr>
          <p:cNvSpPr txBox="1">
            <a:spLocks/>
          </p:cNvSpPr>
          <p:nvPr/>
        </p:nvSpPr>
        <p:spPr>
          <a:xfrm>
            <a:off x="188687" y="957943"/>
            <a:ext cx="8838636" cy="4455886"/>
          </a:xfrm>
          <a:prstGeom prst="rect">
            <a:avLst/>
          </a:prstGeom>
        </p:spPr>
        <p:txBody>
          <a:bodyPr>
            <a:normAutofit fontScale="97500"/>
          </a:bodyPr>
          <a:lstStyle>
            <a:lvl1pPr algn="l" defTabSz="342900" rtl="0" eaLnBrk="1" latinLnBrk="0" hangingPunct="1">
              <a:spcBef>
                <a:spcPct val="0"/>
              </a:spcBef>
              <a:buNone/>
              <a:defRPr sz="2700" b="0" kern="1200">
                <a:solidFill>
                  <a:schemeClr val="tx1"/>
                </a:solidFill>
                <a:latin typeface="Arial"/>
                <a:ea typeface="+mj-ea"/>
                <a:cs typeface="Arial"/>
              </a:defRPr>
            </a:lvl1pPr>
          </a:lstStyle>
          <a:p>
            <a:pPr algn="ctr"/>
            <a:endParaRPr lang="en-IN" sz="2800" dirty="0">
              <a:latin typeface="Amasis MT Pro Medium" panose="02040604050005020304" pitchFamily="18" charset="0"/>
            </a:endParaRPr>
          </a:p>
        </p:txBody>
      </p:sp>
      <p:sp>
        <p:nvSpPr>
          <p:cNvPr id="3" name="TextBox 2">
            <a:extLst>
              <a:ext uri="{FF2B5EF4-FFF2-40B4-BE49-F238E27FC236}">
                <a16:creationId xmlns:a16="http://schemas.microsoft.com/office/drawing/2014/main" id="{8530E9C3-26D0-4914-9A56-E21E3B9E0BB0}"/>
              </a:ext>
            </a:extLst>
          </p:cNvPr>
          <p:cNvSpPr txBox="1"/>
          <p:nvPr/>
        </p:nvSpPr>
        <p:spPr>
          <a:xfrm>
            <a:off x="261257" y="856333"/>
            <a:ext cx="8548913" cy="369332"/>
          </a:xfrm>
          <a:prstGeom prst="rect">
            <a:avLst/>
          </a:prstGeom>
          <a:noFill/>
        </p:spPr>
        <p:txBody>
          <a:bodyPr wrap="square" rtlCol="0">
            <a:spAutoFit/>
          </a:bodyPr>
          <a:lstStyle/>
          <a:p>
            <a:r>
              <a:rPr lang="en-US" b="1" dirty="0">
                <a:solidFill>
                  <a:srgbClr val="002060"/>
                </a:solidFill>
              </a:rPr>
              <a:t>Process flow of data between systems:</a:t>
            </a:r>
          </a:p>
        </p:txBody>
      </p:sp>
      <p:pic>
        <p:nvPicPr>
          <p:cNvPr id="7" name="Picture 6">
            <a:extLst>
              <a:ext uri="{FF2B5EF4-FFF2-40B4-BE49-F238E27FC236}">
                <a16:creationId xmlns:a16="http://schemas.microsoft.com/office/drawing/2014/main" id="{D0F08D1D-CD32-483B-AB92-AAB9F20DB73F}"/>
              </a:ext>
            </a:extLst>
          </p:cNvPr>
          <p:cNvPicPr>
            <a:picLocks noChangeAspect="1"/>
          </p:cNvPicPr>
          <p:nvPr/>
        </p:nvPicPr>
        <p:blipFill>
          <a:blip r:embed="rId2"/>
          <a:stretch>
            <a:fillRect/>
          </a:stretch>
        </p:blipFill>
        <p:spPr>
          <a:xfrm>
            <a:off x="8001000" y="162108"/>
            <a:ext cx="990600" cy="742950"/>
          </a:xfrm>
          <a:prstGeom prst="rect">
            <a:avLst/>
          </a:prstGeom>
        </p:spPr>
      </p:pic>
      <p:pic>
        <p:nvPicPr>
          <p:cNvPr id="2" name="Picture 1">
            <a:extLst>
              <a:ext uri="{FF2B5EF4-FFF2-40B4-BE49-F238E27FC236}">
                <a16:creationId xmlns:a16="http://schemas.microsoft.com/office/drawing/2014/main" id="{E7C3E322-A9C8-4201-8064-262E6BDB0680}"/>
              </a:ext>
            </a:extLst>
          </p:cNvPr>
          <p:cNvPicPr>
            <a:picLocks noChangeAspect="1"/>
          </p:cNvPicPr>
          <p:nvPr/>
        </p:nvPicPr>
        <p:blipFill>
          <a:blip r:embed="rId3"/>
          <a:stretch>
            <a:fillRect/>
          </a:stretch>
        </p:blipFill>
        <p:spPr>
          <a:xfrm>
            <a:off x="2442478" y="2115281"/>
            <a:ext cx="4259043" cy="2627438"/>
          </a:xfrm>
          <a:prstGeom prst="rect">
            <a:avLst/>
          </a:prstGeom>
        </p:spPr>
      </p:pic>
    </p:spTree>
    <p:extLst>
      <p:ext uri="{BB962C8B-B14F-4D97-AF65-F5344CB8AC3E}">
        <p14:creationId xmlns:p14="http://schemas.microsoft.com/office/powerpoint/2010/main" val="742847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7FBE-6F1E-4B87-BD07-CD1DF543C2A5}"/>
              </a:ext>
            </a:extLst>
          </p:cNvPr>
          <p:cNvSpPr>
            <a:spLocks noGrp="1"/>
          </p:cNvSpPr>
          <p:nvPr>
            <p:ph type="title"/>
          </p:nvPr>
        </p:nvSpPr>
        <p:spPr>
          <a:xfrm>
            <a:off x="628650" y="136525"/>
            <a:ext cx="7886700" cy="565604"/>
          </a:xfrm>
        </p:spPr>
        <p:txBody>
          <a:bodyPr/>
          <a:lstStyle/>
          <a:p>
            <a:r>
              <a:rPr lang="en-IN" dirty="0"/>
              <a:t>Full-kit Management Process Flow</a:t>
            </a:r>
            <a:endParaRPr lang="en-US" dirty="0"/>
          </a:p>
        </p:txBody>
      </p:sp>
      <p:graphicFrame>
        <p:nvGraphicFramePr>
          <p:cNvPr id="4" name="Content Placeholder 3">
            <a:extLst>
              <a:ext uri="{FF2B5EF4-FFF2-40B4-BE49-F238E27FC236}">
                <a16:creationId xmlns:a16="http://schemas.microsoft.com/office/drawing/2014/main" id="{9640F0F3-342F-47AF-92F7-D4D568B952F1}"/>
              </a:ext>
            </a:extLst>
          </p:cNvPr>
          <p:cNvGraphicFramePr>
            <a:graphicFrameLocks noGrp="1"/>
          </p:cNvGraphicFramePr>
          <p:nvPr>
            <p:ph idx="1"/>
            <p:extLst>
              <p:ext uri="{D42A27DB-BD31-4B8C-83A1-F6EECF244321}">
                <p14:modId xmlns:p14="http://schemas.microsoft.com/office/powerpoint/2010/main" val="2784491899"/>
              </p:ext>
            </p:extLst>
          </p:nvPr>
        </p:nvGraphicFramePr>
        <p:xfrm>
          <a:off x="449036" y="1281792"/>
          <a:ext cx="8352064" cy="50700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7724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9" name="Table 9">
            <a:extLst>
              <a:ext uri="{FF2B5EF4-FFF2-40B4-BE49-F238E27FC236}">
                <a16:creationId xmlns:a16="http://schemas.microsoft.com/office/drawing/2014/main" id="{98209051-5C85-0627-9053-BFE2919F6FB2}"/>
              </a:ext>
            </a:extLst>
          </p:cNvPr>
          <p:cNvGraphicFramePr>
            <a:graphicFrameLocks noGrp="1"/>
          </p:cNvGraphicFramePr>
          <p:nvPr>
            <p:extLst>
              <p:ext uri="{D42A27DB-BD31-4B8C-83A1-F6EECF244321}">
                <p14:modId xmlns:p14="http://schemas.microsoft.com/office/powerpoint/2010/main" val="1871637915"/>
              </p:ext>
            </p:extLst>
          </p:nvPr>
        </p:nvGraphicFramePr>
        <p:xfrm>
          <a:off x="96033" y="645438"/>
          <a:ext cx="8872606" cy="1828800"/>
        </p:xfrm>
        <a:graphic>
          <a:graphicData uri="http://schemas.openxmlformats.org/drawingml/2006/table">
            <a:tbl>
              <a:tblPr firstRow="1" bandRow="1">
                <a:tableStyleId>{5C22544A-7EE6-4342-B048-85BDC9FD1C3A}</a:tableStyleId>
              </a:tblPr>
              <a:tblGrid>
                <a:gridCol w="682508">
                  <a:extLst>
                    <a:ext uri="{9D8B030D-6E8A-4147-A177-3AD203B41FA5}">
                      <a16:colId xmlns:a16="http://schemas.microsoft.com/office/drawing/2014/main" val="2680319674"/>
                    </a:ext>
                  </a:extLst>
                </a:gridCol>
                <a:gridCol w="682508">
                  <a:extLst>
                    <a:ext uri="{9D8B030D-6E8A-4147-A177-3AD203B41FA5}">
                      <a16:colId xmlns:a16="http://schemas.microsoft.com/office/drawing/2014/main" val="3699748524"/>
                    </a:ext>
                  </a:extLst>
                </a:gridCol>
                <a:gridCol w="682508">
                  <a:extLst>
                    <a:ext uri="{9D8B030D-6E8A-4147-A177-3AD203B41FA5}">
                      <a16:colId xmlns:a16="http://schemas.microsoft.com/office/drawing/2014/main" val="3984118229"/>
                    </a:ext>
                  </a:extLst>
                </a:gridCol>
                <a:gridCol w="599965">
                  <a:extLst>
                    <a:ext uri="{9D8B030D-6E8A-4147-A177-3AD203B41FA5}">
                      <a16:colId xmlns:a16="http://schemas.microsoft.com/office/drawing/2014/main" val="1949556548"/>
                    </a:ext>
                  </a:extLst>
                </a:gridCol>
                <a:gridCol w="765053">
                  <a:extLst>
                    <a:ext uri="{9D8B030D-6E8A-4147-A177-3AD203B41FA5}">
                      <a16:colId xmlns:a16="http://schemas.microsoft.com/office/drawing/2014/main" val="409991506"/>
                    </a:ext>
                  </a:extLst>
                </a:gridCol>
                <a:gridCol w="682508">
                  <a:extLst>
                    <a:ext uri="{9D8B030D-6E8A-4147-A177-3AD203B41FA5}">
                      <a16:colId xmlns:a16="http://schemas.microsoft.com/office/drawing/2014/main" val="3073606098"/>
                    </a:ext>
                  </a:extLst>
                </a:gridCol>
                <a:gridCol w="682508">
                  <a:extLst>
                    <a:ext uri="{9D8B030D-6E8A-4147-A177-3AD203B41FA5}">
                      <a16:colId xmlns:a16="http://schemas.microsoft.com/office/drawing/2014/main" val="2465262844"/>
                    </a:ext>
                  </a:extLst>
                </a:gridCol>
                <a:gridCol w="682508">
                  <a:extLst>
                    <a:ext uri="{9D8B030D-6E8A-4147-A177-3AD203B41FA5}">
                      <a16:colId xmlns:a16="http://schemas.microsoft.com/office/drawing/2014/main" val="2094892799"/>
                    </a:ext>
                  </a:extLst>
                </a:gridCol>
                <a:gridCol w="682508">
                  <a:extLst>
                    <a:ext uri="{9D8B030D-6E8A-4147-A177-3AD203B41FA5}">
                      <a16:colId xmlns:a16="http://schemas.microsoft.com/office/drawing/2014/main" val="3584645083"/>
                    </a:ext>
                  </a:extLst>
                </a:gridCol>
                <a:gridCol w="682508">
                  <a:extLst>
                    <a:ext uri="{9D8B030D-6E8A-4147-A177-3AD203B41FA5}">
                      <a16:colId xmlns:a16="http://schemas.microsoft.com/office/drawing/2014/main" val="3104788944"/>
                    </a:ext>
                  </a:extLst>
                </a:gridCol>
                <a:gridCol w="682508">
                  <a:extLst>
                    <a:ext uri="{9D8B030D-6E8A-4147-A177-3AD203B41FA5}">
                      <a16:colId xmlns:a16="http://schemas.microsoft.com/office/drawing/2014/main" val="166860760"/>
                    </a:ext>
                  </a:extLst>
                </a:gridCol>
                <a:gridCol w="682508">
                  <a:extLst>
                    <a:ext uri="{9D8B030D-6E8A-4147-A177-3AD203B41FA5}">
                      <a16:colId xmlns:a16="http://schemas.microsoft.com/office/drawing/2014/main" val="2297277834"/>
                    </a:ext>
                  </a:extLst>
                </a:gridCol>
                <a:gridCol w="682508">
                  <a:extLst>
                    <a:ext uri="{9D8B030D-6E8A-4147-A177-3AD203B41FA5}">
                      <a16:colId xmlns:a16="http://schemas.microsoft.com/office/drawing/2014/main" val="3833262308"/>
                    </a:ext>
                  </a:extLst>
                </a:gridCol>
              </a:tblGrid>
              <a:tr h="807581">
                <a:tc>
                  <a:txBody>
                    <a:bodyPr/>
                    <a:lstStyle/>
                    <a:p>
                      <a:pPr algn="ctr"/>
                      <a:r>
                        <a:rPr lang="en-US" dirty="0"/>
                        <a:t>Order No</a:t>
                      </a:r>
                    </a:p>
                  </a:txBody>
                  <a:tcPr/>
                </a:tc>
                <a:tc>
                  <a:txBody>
                    <a:bodyPr/>
                    <a:lstStyle/>
                    <a:p>
                      <a:pPr algn="ctr"/>
                      <a:r>
                        <a:rPr lang="en-US" dirty="0"/>
                        <a:t>Customer Name, Plant, city, region </a:t>
                      </a:r>
                    </a:p>
                  </a:txBody>
                  <a:tcPr/>
                </a:tc>
                <a:tc>
                  <a:txBody>
                    <a:bodyPr/>
                    <a:lstStyle/>
                    <a:p>
                      <a:pPr algn="ctr"/>
                      <a:r>
                        <a:rPr lang="en-US" dirty="0"/>
                        <a:t>Customer Code</a:t>
                      </a:r>
                    </a:p>
                  </a:txBody>
                  <a:tcPr/>
                </a:tc>
                <a:tc>
                  <a:txBody>
                    <a:bodyPr/>
                    <a:lstStyle/>
                    <a:p>
                      <a:pPr algn="ctr"/>
                      <a:r>
                        <a:rPr lang="en-US" dirty="0"/>
                        <a:t>Ordered </a:t>
                      </a:r>
                      <a:r>
                        <a:rPr lang="en-US" dirty="0" err="1"/>
                        <a:t>Auantity</a:t>
                      </a:r>
                      <a:endParaRPr lang="en-US" dirty="0"/>
                    </a:p>
                  </a:txBody>
                  <a:tcPr/>
                </a:tc>
                <a:tc>
                  <a:txBody>
                    <a:bodyPr/>
                    <a:lstStyle/>
                    <a:p>
                      <a:pPr algn="ctr"/>
                      <a:r>
                        <a:rPr lang="en-US" dirty="0"/>
                        <a:t>Type of Pour (Manual/Pump)</a:t>
                      </a:r>
                    </a:p>
                  </a:txBody>
                  <a:tcPr/>
                </a:tc>
                <a:tc>
                  <a:txBody>
                    <a:bodyPr/>
                    <a:lstStyle/>
                    <a:p>
                      <a:pPr algn="ctr"/>
                      <a:r>
                        <a:rPr lang="en-US" dirty="0"/>
                        <a:t>Customer Requested date</a:t>
                      </a:r>
                    </a:p>
                  </a:txBody>
                  <a:tcPr/>
                </a:tc>
                <a:tc>
                  <a:txBody>
                    <a:bodyPr/>
                    <a:lstStyle/>
                    <a:p>
                      <a:pPr algn="ctr"/>
                      <a:r>
                        <a:rPr lang="en-US" dirty="0"/>
                        <a:t>Grade</a:t>
                      </a:r>
                    </a:p>
                  </a:txBody>
                  <a:tcPr/>
                </a:tc>
                <a:tc>
                  <a:txBody>
                    <a:bodyPr/>
                    <a:lstStyle/>
                    <a:p>
                      <a:pPr algn="ctr"/>
                      <a:r>
                        <a:rPr lang="en-US" dirty="0"/>
                        <a:t>Site Location</a:t>
                      </a:r>
                    </a:p>
                  </a:txBody>
                  <a:tcPr/>
                </a:tc>
                <a:tc>
                  <a:txBody>
                    <a:bodyPr/>
                    <a:lstStyle/>
                    <a:p>
                      <a:pPr algn="ctr"/>
                      <a:r>
                        <a:rPr lang="en-US" dirty="0"/>
                        <a:t>PAM/TM </a:t>
                      </a:r>
                      <a:r>
                        <a:rPr lang="en-US" dirty="0" err="1"/>
                        <a:t>Hr</a:t>
                      </a:r>
                      <a:endParaRPr lang="en-US" dirty="0"/>
                    </a:p>
                  </a:txBody>
                  <a:tcPr/>
                </a:tc>
                <a:tc>
                  <a:txBody>
                    <a:bodyPr/>
                    <a:lstStyle/>
                    <a:p>
                      <a:pPr algn="ctr"/>
                      <a:r>
                        <a:rPr lang="en-US" dirty="0"/>
                        <a:t>Planned Quantity</a:t>
                      </a:r>
                    </a:p>
                  </a:txBody>
                  <a:tcPr/>
                </a:tc>
                <a:tc>
                  <a:txBody>
                    <a:bodyPr/>
                    <a:lstStyle/>
                    <a:p>
                      <a:pPr algn="ctr"/>
                      <a:r>
                        <a:rPr lang="en-US" dirty="0"/>
                        <a:t>Actual Dispatch </a:t>
                      </a:r>
                    </a:p>
                  </a:txBody>
                  <a:tcPr/>
                </a:tc>
                <a:tc>
                  <a:txBody>
                    <a:bodyPr/>
                    <a:lstStyle/>
                    <a:p>
                      <a:pPr algn="ctr"/>
                      <a:r>
                        <a:rPr lang="en-US" dirty="0"/>
                        <a:t>% of Planned quantity </a:t>
                      </a:r>
                    </a:p>
                  </a:txBody>
                  <a:tcPr/>
                </a:tc>
                <a:tc>
                  <a:txBody>
                    <a:bodyPr/>
                    <a:lstStyle/>
                    <a:p>
                      <a:pPr algn="ctr"/>
                      <a:r>
                        <a:rPr lang="en-US" dirty="0"/>
                        <a:t>Reason for short supply</a:t>
                      </a:r>
                    </a:p>
                  </a:txBody>
                  <a:tcPr/>
                </a:tc>
                <a:extLst>
                  <a:ext uri="{0D108BD9-81ED-4DB2-BD59-A6C34878D82A}">
                    <a16:rowId xmlns:a16="http://schemas.microsoft.com/office/drawing/2014/main" val="2112597659"/>
                  </a:ext>
                </a:extLst>
              </a:tr>
              <a:tr h="395658">
                <a:tc>
                  <a:txBody>
                    <a:bodyPr/>
                    <a:lstStyle/>
                    <a:p>
                      <a:pPr algn="ctr"/>
                      <a:r>
                        <a:rPr lang="en-US" dirty="0"/>
                        <a:t>1234</a:t>
                      </a:r>
                    </a:p>
                  </a:txBody>
                  <a:tcPr/>
                </a:tc>
                <a:tc>
                  <a:txBody>
                    <a:bodyPr/>
                    <a:lstStyle/>
                    <a:p>
                      <a:pPr algn="ctr"/>
                      <a:endParaRPr lang="en-US" dirty="0"/>
                    </a:p>
                  </a:txBody>
                  <a:tcPr/>
                </a:tc>
                <a:tc>
                  <a:txBody>
                    <a:bodyPr/>
                    <a:lstStyle/>
                    <a:p>
                      <a:pPr algn="ctr"/>
                      <a:r>
                        <a:rPr lang="en-US" dirty="0"/>
                        <a:t>ABC</a:t>
                      </a:r>
                    </a:p>
                  </a:txBody>
                  <a:tcPr/>
                </a:tc>
                <a:tc>
                  <a:txBody>
                    <a:bodyPr/>
                    <a:lstStyle/>
                    <a:p>
                      <a:pPr algn="ctr"/>
                      <a:r>
                        <a:rPr lang="en-US" dirty="0"/>
                        <a:t>40</a:t>
                      </a:r>
                    </a:p>
                  </a:txBody>
                  <a:tcPr/>
                </a:tc>
                <a:tc>
                  <a:txBody>
                    <a:bodyPr/>
                    <a:lstStyle/>
                    <a:p>
                      <a:pPr algn="ctr"/>
                      <a:r>
                        <a:rPr lang="en-US" dirty="0"/>
                        <a:t>Manual</a:t>
                      </a:r>
                    </a:p>
                  </a:txBody>
                  <a:tcPr/>
                </a:tc>
                <a:tc>
                  <a:txBody>
                    <a:bodyPr/>
                    <a:lstStyle/>
                    <a:p>
                      <a:pPr algn="ctr"/>
                      <a:r>
                        <a:rPr lang="en-US" dirty="0"/>
                        <a:t>01.05.2022</a:t>
                      </a:r>
                    </a:p>
                  </a:txBody>
                  <a:tcPr/>
                </a:tc>
                <a:tc>
                  <a:txBody>
                    <a:bodyPr/>
                    <a:lstStyle/>
                    <a:p>
                      <a:pPr algn="ctr"/>
                      <a:r>
                        <a:rPr lang="en-US" dirty="0"/>
                        <a:t>M30</a:t>
                      </a:r>
                    </a:p>
                  </a:txBody>
                  <a:tcPr/>
                </a:tc>
                <a:tc>
                  <a:txBody>
                    <a:bodyPr/>
                    <a:lstStyle/>
                    <a:p>
                      <a:pPr algn="ctr"/>
                      <a:r>
                        <a:rPr lang="en-US"/>
                        <a:t>Ghatkopar</a:t>
                      </a:r>
                      <a:endParaRPr lang="en-US" dirty="0"/>
                    </a:p>
                  </a:txBody>
                  <a:tcPr/>
                </a:tc>
                <a:tc>
                  <a:txBody>
                    <a:bodyPr/>
                    <a:lstStyle/>
                    <a:p>
                      <a:pPr algn="ctr"/>
                      <a:r>
                        <a:rPr lang="en-US" dirty="0"/>
                        <a:t>1500</a:t>
                      </a:r>
                    </a:p>
                  </a:txBody>
                  <a:tcPr/>
                </a:tc>
                <a:tc>
                  <a:txBody>
                    <a:bodyPr/>
                    <a:lstStyle/>
                    <a:p>
                      <a:pPr algn="ctr"/>
                      <a:r>
                        <a:rPr lang="en-US" dirty="0"/>
                        <a:t>40</a:t>
                      </a:r>
                    </a:p>
                  </a:txBody>
                  <a:tcPr/>
                </a:tc>
                <a:tc>
                  <a:txBody>
                    <a:bodyPr/>
                    <a:lstStyle/>
                    <a:p>
                      <a:pPr algn="ctr"/>
                      <a:r>
                        <a:rPr lang="en-US" dirty="0"/>
                        <a:t>30</a:t>
                      </a:r>
                    </a:p>
                  </a:txBody>
                  <a:tcPr/>
                </a:tc>
                <a:tc>
                  <a:txBody>
                    <a:bodyPr/>
                    <a:lstStyle/>
                    <a:p>
                      <a:pPr algn="ctr"/>
                      <a:r>
                        <a:rPr lang="en-US" dirty="0"/>
                        <a:t>75%</a:t>
                      </a:r>
                    </a:p>
                  </a:txBody>
                  <a:tcPr/>
                </a:tc>
                <a:tc>
                  <a:txBody>
                    <a:bodyPr/>
                    <a:lstStyle/>
                    <a:p>
                      <a:pPr algn="ctr"/>
                      <a:endParaRPr lang="en-US" dirty="0"/>
                    </a:p>
                  </a:txBody>
                  <a:tcPr/>
                </a:tc>
                <a:extLst>
                  <a:ext uri="{0D108BD9-81ED-4DB2-BD59-A6C34878D82A}">
                    <a16:rowId xmlns:a16="http://schemas.microsoft.com/office/drawing/2014/main" val="2323989272"/>
                  </a:ext>
                </a:extLst>
              </a:tr>
            </a:tbl>
          </a:graphicData>
        </a:graphic>
      </p:graphicFrame>
      <p:sp>
        <p:nvSpPr>
          <p:cNvPr id="10" name="TextBox 9">
            <a:extLst>
              <a:ext uri="{FF2B5EF4-FFF2-40B4-BE49-F238E27FC236}">
                <a16:creationId xmlns:a16="http://schemas.microsoft.com/office/drawing/2014/main" id="{DEDCEF90-F1A5-4481-AFCC-61BD69EC2849}"/>
              </a:ext>
            </a:extLst>
          </p:cNvPr>
          <p:cNvSpPr txBox="1"/>
          <p:nvPr/>
        </p:nvSpPr>
        <p:spPr>
          <a:xfrm>
            <a:off x="150312" y="100208"/>
            <a:ext cx="4446740" cy="461665"/>
          </a:xfrm>
          <a:prstGeom prst="rect">
            <a:avLst/>
          </a:prstGeom>
          <a:noFill/>
        </p:spPr>
        <p:txBody>
          <a:bodyPr wrap="square" rtlCol="0">
            <a:spAutoFit/>
          </a:bodyPr>
          <a:lstStyle/>
          <a:p>
            <a:r>
              <a:rPr lang="en-US" sz="2400" dirty="0"/>
              <a:t>Order and Pump FK </a:t>
            </a:r>
          </a:p>
        </p:txBody>
      </p:sp>
      <p:sp>
        <p:nvSpPr>
          <p:cNvPr id="11" name="TextBox 10">
            <a:extLst>
              <a:ext uri="{FF2B5EF4-FFF2-40B4-BE49-F238E27FC236}">
                <a16:creationId xmlns:a16="http://schemas.microsoft.com/office/drawing/2014/main" id="{0E645695-8F99-A86C-8A59-5CF04844B96E}"/>
              </a:ext>
            </a:extLst>
          </p:cNvPr>
          <p:cNvSpPr txBox="1"/>
          <p:nvPr/>
        </p:nvSpPr>
        <p:spPr>
          <a:xfrm>
            <a:off x="96033" y="2138347"/>
            <a:ext cx="4446740" cy="461665"/>
          </a:xfrm>
          <a:prstGeom prst="rect">
            <a:avLst/>
          </a:prstGeom>
          <a:noFill/>
        </p:spPr>
        <p:txBody>
          <a:bodyPr wrap="square" rtlCol="0">
            <a:spAutoFit/>
          </a:bodyPr>
          <a:lstStyle/>
          <a:p>
            <a:r>
              <a:rPr lang="en-US" sz="2400" dirty="0"/>
              <a:t>Order Full-kit (FK-1)</a:t>
            </a:r>
          </a:p>
        </p:txBody>
      </p:sp>
      <p:graphicFrame>
        <p:nvGraphicFramePr>
          <p:cNvPr id="12" name="Table 9">
            <a:extLst>
              <a:ext uri="{FF2B5EF4-FFF2-40B4-BE49-F238E27FC236}">
                <a16:creationId xmlns:a16="http://schemas.microsoft.com/office/drawing/2014/main" id="{DCE73FDE-7A0B-2744-8B25-ADBB3FCA1090}"/>
              </a:ext>
            </a:extLst>
          </p:cNvPr>
          <p:cNvGraphicFramePr>
            <a:graphicFrameLocks noGrp="1"/>
          </p:cNvGraphicFramePr>
          <p:nvPr>
            <p:extLst>
              <p:ext uri="{D42A27DB-BD31-4B8C-83A1-F6EECF244321}">
                <p14:modId xmlns:p14="http://schemas.microsoft.com/office/powerpoint/2010/main" val="2477990362"/>
              </p:ext>
            </p:extLst>
          </p:nvPr>
        </p:nvGraphicFramePr>
        <p:xfrm>
          <a:off x="135697" y="2569805"/>
          <a:ext cx="8872605" cy="1203239"/>
        </p:xfrm>
        <a:graphic>
          <a:graphicData uri="http://schemas.openxmlformats.org/drawingml/2006/table">
            <a:tbl>
              <a:tblPr firstRow="1" bandRow="1">
                <a:tableStyleId>{5C22544A-7EE6-4342-B048-85BDC9FD1C3A}</a:tableStyleId>
              </a:tblPr>
              <a:tblGrid>
                <a:gridCol w="972773">
                  <a:extLst>
                    <a:ext uri="{9D8B030D-6E8A-4147-A177-3AD203B41FA5}">
                      <a16:colId xmlns:a16="http://schemas.microsoft.com/office/drawing/2014/main" val="2680319674"/>
                    </a:ext>
                  </a:extLst>
                </a:gridCol>
                <a:gridCol w="972773">
                  <a:extLst>
                    <a:ext uri="{9D8B030D-6E8A-4147-A177-3AD203B41FA5}">
                      <a16:colId xmlns:a16="http://schemas.microsoft.com/office/drawing/2014/main" val="3984118229"/>
                    </a:ext>
                  </a:extLst>
                </a:gridCol>
                <a:gridCol w="855123">
                  <a:extLst>
                    <a:ext uri="{9D8B030D-6E8A-4147-A177-3AD203B41FA5}">
                      <a16:colId xmlns:a16="http://schemas.microsoft.com/office/drawing/2014/main" val="1949556548"/>
                    </a:ext>
                  </a:extLst>
                </a:gridCol>
                <a:gridCol w="1090422">
                  <a:extLst>
                    <a:ext uri="{9D8B030D-6E8A-4147-A177-3AD203B41FA5}">
                      <a16:colId xmlns:a16="http://schemas.microsoft.com/office/drawing/2014/main" val="3800640444"/>
                    </a:ext>
                  </a:extLst>
                </a:gridCol>
                <a:gridCol w="1090422">
                  <a:extLst>
                    <a:ext uri="{9D8B030D-6E8A-4147-A177-3AD203B41FA5}">
                      <a16:colId xmlns:a16="http://schemas.microsoft.com/office/drawing/2014/main" val="409991506"/>
                    </a:ext>
                  </a:extLst>
                </a:gridCol>
                <a:gridCol w="972773">
                  <a:extLst>
                    <a:ext uri="{9D8B030D-6E8A-4147-A177-3AD203B41FA5}">
                      <a16:colId xmlns:a16="http://schemas.microsoft.com/office/drawing/2014/main" val="3073606098"/>
                    </a:ext>
                  </a:extLst>
                </a:gridCol>
                <a:gridCol w="972773">
                  <a:extLst>
                    <a:ext uri="{9D8B030D-6E8A-4147-A177-3AD203B41FA5}">
                      <a16:colId xmlns:a16="http://schemas.microsoft.com/office/drawing/2014/main" val="2465262844"/>
                    </a:ext>
                  </a:extLst>
                </a:gridCol>
                <a:gridCol w="972773">
                  <a:extLst>
                    <a:ext uri="{9D8B030D-6E8A-4147-A177-3AD203B41FA5}">
                      <a16:colId xmlns:a16="http://schemas.microsoft.com/office/drawing/2014/main" val="1163551757"/>
                    </a:ext>
                  </a:extLst>
                </a:gridCol>
                <a:gridCol w="972773">
                  <a:extLst>
                    <a:ext uri="{9D8B030D-6E8A-4147-A177-3AD203B41FA5}">
                      <a16:colId xmlns:a16="http://schemas.microsoft.com/office/drawing/2014/main" val="2094892799"/>
                    </a:ext>
                  </a:extLst>
                </a:gridCol>
              </a:tblGrid>
              <a:tr h="807581">
                <a:tc>
                  <a:txBody>
                    <a:bodyPr/>
                    <a:lstStyle/>
                    <a:p>
                      <a:pPr algn="ctr"/>
                      <a:r>
                        <a:rPr lang="en-US" dirty="0"/>
                        <a:t>Customer SO</a:t>
                      </a:r>
                    </a:p>
                  </a:txBody>
                  <a:tcPr/>
                </a:tc>
                <a:tc>
                  <a:txBody>
                    <a:bodyPr/>
                    <a:lstStyle/>
                    <a:p>
                      <a:pPr algn="ctr"/>
                      <a:r>
                        <a:rPr lang="en-US" dirty="0"/>
                        <a:t>Credit Limit available</a:t>
                      </a:r>
                    </a:p>
                  </a:txBody>
                  <a:tcPr/>
                </a:tc>
                <a:tc>
                  <a:txBody>
                    <a:bodyPr/>
                    <a:lstStyle/>
                    <a:p>
                      <a:pPr algn="ctr"/>
                      <a:r>
                        <a:rPr lang="en-US" dirty="0"/>
                        <a:t>Site Readiness</a:t>
                      </a:r>
                    </a:p>
                  </a:txBody>
                  <a:tcPr/>
                </a:tc>
                <a:tc>
                  <a:txBody>
                    <a:bodyPr/>
                    <a:lstStyle/>
                    <a:p>
                      <a:pPr algn="ctr"/>
                      <a:r>
                        <a:rPr lang="en-US" dirty="0"/>
                        <a:t>Pump Required</a:t>
                      </a:r>
                    </a:p>
                  </a:txBody>
                  <a:tcPr/>
                </a:tc>
                <a:tc>
                  <a:txBody>
                    <a:bodyPr/>
                    <a:lstStyle/>
                    <a:p>
                      <a:pPr algn="ctr"/>
                      <a:r>
                        <a:rPr lang="en-US" dirty="0"/>
                        <a:t>Pump available</a:t>
                      </a:r>
                    </a:p>
                  </a:txBody>
                  <a:tcPr/>
                </a:tc>
                <a:tc>
                  <a:txBody>
                    <a:bodyPr/>
                    <a:lstStyle/>
                    <a:p>
                      <a:pPr algn="ctr"/>
                      <a:r>
                        <a:rPr lang="en-US" dirty="0"/>
                        <a:t>Pump Number</a:t>
                      </a:r>
                    </a:p>
                  </a:txBody>
                  <a:tcPr/>
                </a:tc>
                <a:tc>
                  <a:txBody>
                    <a:bodyPr/>
                    <a:lstStyle/>
                    <a:p>
                      <a:pPr algn="ctr"/>
                      <a:r>
                        <a:rPr lang="en-US" dirty="0"/>
                        <a:t>Pipeline available</a:t>
                      </a:r>
                    </a:p>
                  </a:txBody>
                  <a:tcPr/>
                </a:tc>
                <a:tc>
                  <a:txBody>
                    <a:bodyPr/>
                    <a:lstStyle/>
                    <a:p>
                      <a:pPr algn="ctr"/>
                      <a:r>
                        <a:rPr lang="en-US" dirty="0"/>
                        <a:t>Pipeline installed</a:t>
                      </a:r>
                    </a:p>
                  </a:txBody>
                  <a:tcPr/>
                </a:tc>
                <a:tc>
                  <a:txBody>
                    <a:bodyPr/>
                    <a:lstStyle/>
                    <a:p>
                      <a:pPr algn="ctr"/>
                      <a:r>
                        <a:rPr lang="en-US" dirty="0"/>
                        <a:t>RM available</a:t>
                      </a:r>
                    </a:p>
                  </a:txBody>
                  <a:tcPr/>
                </a:tc>
                <a:extLst>
                  <a:ext uri="{0D108BD9-81ED-4DB2-BD59-A6C34878D82A}">
                    <a16:rowId xmlns:a16="http://schemas.microsoft.com/office/drawing/2014/main" val="2112597659"/>
                  </a:ext>
                </a:extLst>
              </a:tr>
              <a:tr h="395658">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XYZ</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323989272"/>
                  </a:ext>
                </a:extLst>
              </a:tr>
            </a:tbl>
          </a:graphicData>
        </a:graphic>
      </p:graphicFrame>
      <p:pic>
        <p:nvPicPr>
          <p:cNvPr id="15" name="Graphic 14" descr="Checkbox Ticked with solid fill">
            <a:extLst>
              <a:ext uri="{FF2B5EF4-FFF2-40B4-BE49-F238E27FC236}">
                <a16:creationId xmlns:a16="http://schemas.microsoft.com/office/drawing/2014/main" id="{6F9C33A5-123D-CFCD-C59C-30D1103A4D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66168" y="3330686"/>
            <a:ext cx="489559" cy="489559"/>
          </a:xfrm>
          <a:prstGeom prst="rect">
            <a:avLst/>
          </a:prstGeom>
        </p:spPr>
      </p:pic>
      <p:graphicFrame>
        <p:nvGraphicFramePr>
          <p:cNvPr id="16" name="Table 16">
            <a:extLst>
              <a:ext uri="{FF2B5EF4-FFF2-40B4-BE49-F238E27FC236}">
                <a16:creationId xmlns:a16="http://schemas.microsoft.com/office/drawing/2014/main" id="{41645B7B-1812-2821-5EF6-40AEA48F32D1}"/>
              </a:ext>
            </a:extLst>
          </p:cNvPr>
          <p:cNvGraphicFramePr>
            <a:graphicFrameLocks noGrp="1"/>
          </p:cNvGraphicFramePr>
          <p:nvPr>
            <p:extLst>
              <p:ext uri="{D42A27DB-BD31-4B8C-83A1-F6EECF244321}">
                <p14:modId xmlns:p14="http://schemas.microsoft.com/office/powerpoint/2010/main" val="1933149304"/>
              </p:ext>
            </p:extLst>
          </p:nvPr>
        </p:nvGraphicFramePr>
        <p:xfrm>
          <a:off x="150312" y="3898818"/>
          <a:ext cx="5260932" cy="2755071"/>
        </p:xfrm>
        <a:graphic>
          <a:graphicData uri="http://schemas.openxmlformats.org/drawingml/2006/table">
            <a:tbl>
              <a:tblPr firstRow="1" bandRow="1">
                <a:tableStyleId>{D7AC3CCA-C797-4891-BE02-D94E43425B78}</a:tableStyleId>
              </a:tblPr>
              <a:tblGrid>
                <a:gridCol w="4609578">
                  <a:extLst>
                    <a:ext uri="{9D8B030D-6E8A-4147-A177-3AD203B41FA5}">
                      <a16:colId xmlns:a16="http://schemas.microsoft.com/office/drawing/2014/main" val="3480495035"/>
                    </a:ext>
                  </a:extLst>
                </a:gridCol>
                <a:gridCol w="651354">
                  <a:extLst>
                    <a:ext uri="{9D8B030D-6E8A-4147-A177-3AD203B41FA5}">
                      <a16:colId xmlns:a16="http://schemas.microsoft.com/office/drawing/2014/main" val="995773115"/>
                    </a:ext>
                  </a:extLst>
                </a:gridCol>
              </a:tblGrid>
              <a:tr h="306119">
                <a:tc gridSpan="2">
                  <a:txBody>
                    <a:bodyPr/>
                    <a:lstStyle/>
                    <a:p>
                      <a:pPr algn="ctr"/>
                      <a:r>
                        <a:rPr lang="en-US" sz="1050" dirty="0"/>
                        <a:t>Site Readiness Checklist</a:t>
                      </a:r>
                    </a:p>
                  </a:txBody>
                  <a:tcPr anchor="ctr"/>
                </a:tc>
                <a:tc hMerge="1">
                  <a:txBody>
                    <a:bodyPr/>
                    <a:lstStyle/>
                    <a:p>
                      <a:endParaRPr lang="en-US" dirty="0"/>
                    </a:p>
                  </a:txBody>
                  <a:tcPr/>
                </a:tc>
                <a:extLst>
                  <a:ext uri="{0D108BD9-81ED-4DB2-BD59-A6C34878D82A}">
                    <a16:rowId xmlns:a16="http://schemas.microsoft.com/office/drawing/2014/main" val="2394994280"/>
                  </a:ext>
                </a:extLst>
              </a:tr>
              <a:tr h="306119">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GB" sz="1000" dirty="0">
                          <a:solidFill>
                            <a:srgbClr val="FF0000"/>
                          </a:solidFill>
                        </a:rPr>
                        <a:t>Safe approach for people and vehicles</a:t>
                      </a:r>
                    </a:p>
                  </a:txBody>
                  <a:tcPr anchor="ctr"/>
                </a:tc>
                <a:tc>
                  <a:txBody>
                    <a:bodyPr/>
                    <a:lstStyle/>
                    <a:p>
                      <a:endParaRPr lang="en-US" sz="1050" dirty="0"/>
                    </a:p>
                  </a:txBody>
                  <a:tcPr/>
                </a:tc>
                <a:extLst>
                  <a:ext uri="{0D108BD9-81ED-4DB2-BD59-A6C34878D82A}">
                    <a16:rowId xmlns:a16="http://schemas.microsoft.com/office/drawing/2014/main" val="3721785349"/>
                  </a:ext>
                </a:extLst>
              </a:tr>
              <a:tr h="306119">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GB" sz="1000" dirty="0">
                          <a:solidFill>
                            <a:srgbClr val="FF0000"/>
                          </a:solidFill>
                        </a:rPr>
                        <a:t>Safe &amp; adequate space for keeping Materials/Accessories/Pipeline</a:t>
                      </a:r>
                    </a:p>
                  </a:txBody>
                  <a:tcPr anchor="ctr"/>
                </a:tc>
                <a:tc>
                  <a:txBody>
                    <a:bodyPr/>
                    <a:lstStyle/>
                    <a:p>
                      <a:endParaRPr lang="en-US" sz="1050" dirty="0"/>
                    </a:p>
                  </a:txBody>
                  <a:tcPr/>
                </a:tc>
                <a:extLst>
                  <a:ext uri="{0D108BD9-81ED-4DB2-BD59-A6C34878D82A}">
                    <a16:rowId xmlns:a16="http://schemas.microsoft.com/office/drawing/2014/main" val="1128046184"/>
                  </a:ext>
                </a:extLst>
              </a:tr>
              <a:tr h="306119">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GB" sz="1000" dirty="0">
                          <a:solidFill>
                            <a:srgbClr val="FF0000"/>
                          </a:solidFill>
                        </a:rPr>
                        <a:t>Safe access for tying/ Fixing vertical &amp; Horizontal pipeline </a:t>
                      </a:r>
                    </a:p>
                  </a:txBody>
                  <a:tcPr anchor="ctr"/>
                </a:tc>
                <a:tc>
                  <a:txBody>
                    <a:bodyPr/>
                    <a:lstStyle/>
                    <a:p>
                      <a:endParaRPr lang="en-US" sz="1050" dirty="0"/>
                    </a:p>
                  </a:txBody>
                  <a:tcPr/>
                </a:tc>
                <a:extLst>
                  <a:ext uri="{0D108BD9-81ED-4DB2-BD59-A6C34878D82A}">
                    <a16:rowId xmlns:a16="http://schemas.microsoft.com/office/drawing/2014/main" val="394448598"/>
                  </a:ext>
                </a:extLst>
              </a:tr>
              <a:tr h="306119">
                <a:tc>
                  <a:txBody>
                    <a:bodyPr/>
                    <a:lstStyle/>
                    <a:p>
                      <a:pPr algn="l"/>
                      <a:r>
                        <a:rPr lang="en-US" sz="1000" dirty="0"/>
                        <a:t>Site work location / access free from overhead/ underground electrical hazards</a:t>
                      </a:r>
                    </a:p>
                  </a:txBody>
                  <a:tcPr anchor="ctr"/>
                </a:tc>
                <a:tc>
                  <a:txBody>
                    <a:bodyPr/>
                    <a:lstStyle/>
                    <a:p>
                      <a:endParaRPr lang="en-US" sz="1050" dirty="0"/>
                    </a:p>
                  </a:txBody>
                  <a:tcPr/>
                </a:tc>
                <a:extLst>
                  <a:ext uri="{0D108BD9-81ED-4DB2-BD59-A6C34878D82A}">
                    <a16:rowId xmlns:a16="http://schemas.microsoft.com/office/drawing/2014/main" val="2686332065"/>
                  </a:ext>
                </a:extLst>
              </a:tr>
              <a:tr h="306119">
                <a:tc>
                  <a:txBody>
                    <a:bodyPr/>
                    <a:lstStyle/>
                    <a:p>
                      <a:pPr algn="l"/>
                      <a:r>
                        <a:rPr lang="en-US" sz="1000" dirty="0">
                          <a:solidFill>
                            <a:srgbClr val="FF0000"/>
                          </a:solidFill>
                        </a:rPr>
                        <a:t>Safe condition of scaffold &amp; firm rigid support of shuttering</a:t>
                      </a:r>
                    </a:p>
                  </a:txBody>
                  <a:tcPr anchor="ctr"/>
                </a:tc>
                <a:tc>
                  <a:txBody>
                    <a:bodyPr/>
                    <a:lstStyle/>
                    <a:p>
                      <a:endParaRPr lang="en-US" sz="1050" dirty="0"/>
                    </a:p>
                  </a:txBody>
                  <a:tcPr/>
                </a:tc>
                <a:extLst>
                  <a:ext uri="{0D108BD9-81ED-4DB2-BD59-A6C34878D82A}">
                    <a16:rowId xmlns:a16="http://schemas.microsoft.com/office/drawing/2014/main" val="2044188104"/>
                  </a:ext>
                </a:extLst>
              </a:tr>
              <a:tr h="306119">
                <a:tc>
                  <a:txBody>
                    <a:bodyPr/>
                    <a:lstStyle/>
                    <a:p>
                      <a:pPr algn="l"/>
                      <a:r>
                        <a:rPr lang="en-US" sz="1000" dirty="0"/>
                        <a:t>Fall protection at height</a:t>
                      </a:r>
                    </a:p>
                  </a:txBody>
                  <a:tcPr anchor="ctr"/>
                </a:tc>
                <a:tc>
                  <a:txBody>
                    <a:bodyPr/>
                    <a:lstStyle/>
                    <a:p>
                      <a:endParaRPr lang="en-US" sz="1050" dirty="0"/>
                    </a:p>
                  </a:txBody>
                  <a:tcPr/>
                </a:tc>
                <a:extLst>
                  <a:ext uri="{0D108BD9-81ED-4DB2-BD59-A6C34878D82A}">
                    <a16:rowId xmlns:a16="http://schemas.microsoft.com/office/drawing/2014/main" val="3673642647"/>
                  </a:ext>
                </a:extLst>
              </a:tr>
              <a:tr h="306119">
                <a:tc>
                  <a:txBody>
                    <a:bodyPr/>
                    <a:lstStyle/>
                    <a:p>
                      <a:pPr algn="l"/>
                      <a:r>
                        <a:rPr lang="en-US" sz="1000" dirty="0"/>
                        <a:t>Display of cautionary notice board near specific hazards</a:t>
                      </a:r>
                    </a:p>
                  </a:txBody>
                  <a:tcPr anchor="ctr"/>
                </a:tc>
                <a:tc>
                  <a:txBody>
                    <a:bodyPr/>
                    <a:lstStyle/>
                    <a:p>
                      <a:endParaRPr lang="en-US" sz="1050" dirty="0"/>
                    </a:p>
                  </a:txBody>
                  <a:tcPr/>
                </a:tc>
                <a:extLst>
                  <a:ext uri="{0D108BD9-81ED-4DB2-BD59-A6C34878D82A}">
                    <a16:rowId xmlns:a16="http://schemas.microsoft.com/office/drawing/2014/main" val="228774024"/>
                  </a:ext>
                </a:extLst>
              </a:tr>
              <a:tr h="306119">
                <a:tc>
                  <a:txBody>
                    <a:bodyPr/>
                    <a:lstStyle/>
                    <a:p>
                      <a:pPr algn="l"/>
                      <a:r>
                        <a:rPr lang="en-US" sz="1000" dirty="0"/>
                        <a:t>Provision of adequate illumination at access and work location</a:t>
                      </a:r>
                    </a:p>
                  </a:txBody>
                  <a:tcPr anchor="ctr"/>
                </a:tc>
                <a:tc>
                  <a:txBody>
                    <a:bodyPr/>
                    <a:lstStyle/>
                    <a:p>
                      <a:endParaRPr lang="en-US" sz="1050" dirty="0"/>
                    </a:p>
                  </a:txBody>
                  <a:tcPr/>
                </a:tc>
                <a:extLst>
                  <a:ext uri="{0D108BD9-81ED-4DB2-BD59-A6C34878D82A}">
                    <a16:rowId xmlns:a16="http://schemas.microsoft.com/office/drawing/2014/main" val="628384743"/>
                  </a:ext>
                </a:extLst>
              </a:tr>
            </a:tbl>
          </a:graphicData>
        </a:graphic>
      </p:graphicFrame>
      <p:pic>
        <p:nvPicPr>
          <p:cNvPr id="17" name="Graphic 16" descr="Checkbox Ticked with solid fill">
            <a:extLst>
              <a:ext uri="{FF2B5EF4-FFF2-40B4-BE49-F238E27FC236}">
                <a16:creationId xmlns:a16="http://schemas.microsoft.com/office/drawing/2014/main" id="{AFDA5A8A-8A2E-816C-80B4-FB5BF82882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8491" y="4168210"/>
            <a:ext cx="382218" cy="382218"/>
          </a:xfrm>
          <a:prstGeom prst="rect">
            <a:avLst/>
          </a:prstGeom>
        </p:spPr>
      </p:pic>
      <p:pic>
        <p:nvPicPr>
          <p:cNvPr id="18" name="Graphic 17" descr="Checkbox Ticked with solid fill">
            <a:extLst>
              <a:ext uri="{FF2B5EF4-FFF2-40B4-BE49-F238E27FC236}">
                <a16:creationId xmlns:a16="http://schemas.microsoft.com/office/drawing/2014/main" id="{125EAEF5-BE49-9C4D-D059-3C4113392E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8491" y="4476737"/>
            <a:ext cx="382218" cy="382218"/>
          </a:xfrm>
          <a:prstGeom prst="rect">
            <a:avLst/>
          </a:prstGeom>
        </p:spPr>
      </p:pic>
      <p:pic>
        <p:nvPicPr>
          <p:cNvPr id="19" name="Graphic 18" descr="Checkbox Ticked with solid fill">
            <a:extLst>
              <a:ext uri="{FF2B5EF4-FFF2-40B4-BE49-F238E27FC236}">
                <a16:creationId xmlns:a16="http://schemas.microsoft.com/office/drawing/2014/main" id="{068D54E2-0028-7A43-8388-57CDF5D6D9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5520" y="4770871"/>
            <a:ext cx="377709" cy="382218"/>
          </a:xfrm>
          <a:prstGeom prst="rect">
            <a:avLst/>
          </a:prstGeom>
        </p:spPr>
      </p:pic>
      <p:pic>
        <p:nvPicPr>
          <p:cNvPr id="21" name="Graphic 20" descr="Checkbox Ticked with solid fill">
            <a:extLst>
              <a:ext uri="{FF2B5EF4-FFF2-40B4-BE49-F238E27FC236}">
                <a16:creationId xmlns:a16="http://schemas.microsoft.com/office/drawing/2014/main" id="{2C358AAC-ADAE-E91E-56AE-3603A32D8D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8491" y="5082792"/>
            <a:ext cx="382218" cy="382218"/>
          </a:xfrm>
          <a:prstGeom prst="rect">
            <a:avLst/>
          </a:prstGeom>
        </p:spPr>
      </p:pic>
      <p:pic>
        <p:nvPicPr>
          <p:cNvPr id="22" name="Graphic 21" descr="Checkbox Ticked with solid fill">
            <a:extLst>
              <a:ext uri="{FF2B5EF4-FFF2-40B4-BE49-F238E27FC236}">
                <a16:creationId xmlns:a16="http://schemas.microsoft.com/office/drawing/2014/main" id="{2D8FA515-EA3A-210C-1E11-720D212E13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9351" y="3330686"/>
            <a:ext cx="489559" cy="489559"/>
          </a:xfrm>
          <a:prstGeom prst="rect">
            <a:avLst/>
          </a:prstGeom>
        </p:spPr>
      </p:pic>
      <p:pic>
        <p:nvPicPr>
          <p:cNvPr id="23" name="Graphic 22" descr="Checkbox Ticked with solid fill">
            <a:extLst>
              <a:ext uri="{FF2B5EF4-FFF2-40B4-BE49-F238E27FC236}">
                <a16:creationId xmlns:a16="http://schemas.microsoft.com/office/drawing/2014/main" id="{D50A54D1-3559-022E-3A3E-1FCABA01BF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1225" y="3330686"/>
            <a:ext cx="489559" cy="489559"/>
          </a:xfrm>
          <a:prstGeom prst="rect">
            <a:avLst/>
          </a:prstGeom>
        </p:spPr>
      </p:pic>
      <p:pic>
        <p:nvPicPr>
          <p:cNvPr id="24" name="Graphic 23" descr="Checkbox Ticked with solid fill">
            <a:extLst>
              <a:ext uri="{FF2B5EF4-FFF2-40B4-BE49-F238E27FC236}">
                <a16:creationId xmlns:a16="http://schemas.microsoft.com/office/drawing/2014/main" id="{F0764B0A-CE37-5BD7-D5E8-AB837EE711D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28272" y="3319186"/>
            <a:ext cx="489559" cy="489559"/>
          </a:xfrm>
          <a:prstGeom prst="rect">
            <a:avLst/>
          </a:prstGeom>
        </p:spPr>
      </p:pic>
      <p:pic>
        <p:nvPicPr>
          <p:cNvPr id="25" name="Graphic 24" descr="Checkbox Ticked with solid fill">
            <a:extLst>
              <a:ext uri="{FF2B5EF4-FFF2-40B4-BE49-F238E27FC236}">
                <a16:creationId xmlns:a16="http://schemas.microsoft.com/office/drawing/2014/main" id="{76D09F71-1E43-7264-4313-A23E61C9C2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30562" y="3319186"/>
            <a:ext cx="489559" cy="489559"/>
          </a:xfrm>
          <a:prstGeom prst="rect">
            <a:avLst/>
          </a:prstGeom>
        </p:spPr>
      </p:pic>
      <p:pic>
        <p:nvPicPr>
          <p:cNvPr id="26" name="Graphic 25" descr="Checkbox Ticked with solid fill">
            <a:extLst>
              <a:ext uri="{FF2B5EF4-FFF2-40B4-BE49-F238E27FC236}">
                <a16:creationId xmlns:a16="http://schemas.microsoft.com/office/drawing/2014/main" id="{38481750-299C-AD7E-F5D4-EF0F16129E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3830" y="3319186"/>
            <a:ext cx="489559" cy="489559"/>
          </a:xfrm>
          <a:prstGeom prst="rect">
            <a:avLst/>
          </a:prstGeom>
        </p:spPr>
      </p:pic>
      <p:pic>
        <p:nvPicPr>
          <p:cNvPr id="27" name="Graphic 26" descr="Checkbox Ticked with solid fill">
            <a:extLst>
              <a:ext uri="{FF2B5EF4-FFF2-40B4-BE49-F238E27FC236}">
                <a16:creationId xmlns:a16="http://schemas.microsoft.com/office/drawing/2014/main" id="{6C66BF21-F47E-FF4F-6AB9-397EAB6AFD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57629" y="3320870"/>
            <a:ext cx="489559" cy="489559"/>
          </a:xfrm>
          <a:prstGeom prst="rect">
            <a:avLst/>
          </a:prstGeom>
        </p:spPr>
      </p:pic>
      <p:pic>
        <p:nvPicPr>
          <p:cNvPr id="28" name="Graphic 27" descr="Checkbox Ticked with solid fill">
            <a:extLst>
              <a:ext uri="{FF2B5EF4-FFF2-40B4-BE49-F238E27FC236}">
                <a16:creationId xmlns:a16="http://schemas.microsoft.com/office/drawing/2014/main" id="{70FD1F03-A3FD-87BF-25F7-F3A271AD80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8491" y="5381785"/>
            <a:ext cx="382218" cy="382218"/>
          </a:xfrm>
          <a:prstGeom prst="rect">
            <a:avLst/>
          </a:prstGeom>
        </p:spPr>
      </p:pic>
      <p:pic>
        <p:nvPicPr>
          <p:cNvPr id="29" name="Graphic 28" descr="Checkbox Ticked with solid fill">
            <a:extLst>
              <a:ext uri="{FF2B5EF4-FFF2-40B4-BE49-F238E27FC236}">
                <a16:creationId xmlns:a16="http://schemas.microsoft.com/office/drawing/2014/main" id="{E98CB8F8-57C1-6BF2-4764-EA3AEC28510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8491" y="5668645"/>
            <a:ext cx="382218" cy="382218"/>
          </a:xfrm>
          <a:prstGeom prst="rect">
            <a:avLst/>
          </a:prstGeom>
        </p:spPr>
      </p:pic>
      <p:pic>
        <p:nvPicPr>
          <p:cNvPr id="30" name="Graphic 29" descr="Checkbox Ticked with solid fill">
            <a:extLst>
              <a:ext uri="{FF2B5EF4-FFF2-40B4-BE49-F238E27FC236}">
                <a16:creationId xmlns:a16="http://schemas.microsoft.com/office/drawing/2014/main" id="{0FBE3DFE-8731-474D-64B6-F430FD6568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8491" y="5985721"/>
            <a:ext cx="382218" cy="382218"/>
          </a:xfrm>
          <a:prstGeom prst="rect">
            <a:avLst/>
          </a:prstGeom>
        </p:spPr>
      </p:pic>
      <p:pic>
        <p:nvPicPr>
          <p:cNvPr id="31" name="Graphic 30" descr="Checkbox Ticked with solid fill">
            <a:extLst>
              <a:ext uri="{FF2B5EF4-FFF2-40B4-BE49-F238E27FC236}">
                <a16:creationId xmlns:a16="http://schemas.microsoft.com/office/drawing/2014/main" id="{FBF082FD-08BE-401A-1B65-8440D0FF4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8491" y="6309249"/>
            <a:ext cx="382218" cy="382218"/>
          </a:xfrm>
          <a:prstGeom prst="rect">
            <a:avLst/>
          </a:prstGeom>
        </p:spPr>
      </p:pic>
      <p:pic>
        <p:nvPicPr>
          <p:cNvPr id="32" name="Graphic 31" descr="Checkbox Ticked with solid fill">
            <a:extLst>
              <a:ext uri="{FF2B5EF4-FFF2-40B4-BE49-F238E27FC236}">
                <a16:creationId xmlns:a16="http://schemas.microsoft.com/office/drawing/2014/main" id="{86D84F95-760B-5656-8E03-333BB8B50B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28328" y="3319186"/>
            <a:ext cx="489559" cy="489559"/>
          </a:xfrm>
          <a:prstGeom prst="rect">
            <a:avLst/>
          </a:prstGeom>
        </p:spPr>
      </p:pic>
      <p:graphicFrame>
        <p:nvGraphicFramePr>
          <p:cNvPr id="34" name="Table 16">
            <a:extLst>
              <a:ext uri="{FF2B5EF4-FFF2-40B4-BE49-F238E27FC236}">
                <a16:creationId xmlns:a16="http://schemas.microsoft.com/office/drawing/2014/main" id="{422607B2-EA42-3C57-96FB-6B380449DF2F}"/>
              </a:ext>
            </a:extLst>
          </p:cNvPr>
          <p:cNvGraphicFramePr>
            <a:graphicFrameLocks noGrp="1"/>
          </p:cNvGraphicFramePr>
          <p:nvPr>
            <p:extLst>
              <p:ext uri="{D42A27DB-BD31-4B8C-83A1-F6EECF244321}">
                <p14:modId xmlns:p14="http://schemas.microsoft.com/office/powerpoint/2010/main" val="1266912047"/>
              </p:ext>
            </p:extLst>
          </p:nvPr>
        </p:nvGraphicFramePr>
        <p:xfrm>
          <a:off x="7540939" y="3848065"/>
          <a:ext cx="1377863" cy="3067439"/>
        </p:xfrm>
        <a:graphic>
          <a:graphicData uri="http://schemas.openxmlformats.org/drawingml/2006/table">
            <a:tbl>
              <a:tblPr firstRow="1" bandRow="1">
                <a:tableStyleId>{D7AC3CCA-C797-4891-BE02-D94E43425B78}</a:tableStyleId>
              </a:tblPr>
              <a:tblGrid>
                <a:gridCol w="1377863">
                  <a:extLst>
                    <a:ext uri="{9D8B030D-6E8A-4147-A177-3AD203B41FA5}">
                      <a16:colId xmlns:a16="http://schemas.microsoft.com/office/drawing/2014/main" val="3480495035"/>
                    </a:ext>
                  </a:extLst>
                </a:gridCol>
              </a:tblGrid>
              <a:tr h="351229">
                <a:tc>
                  <a:txBody>
                    <a:bodyPr/>
                    <a:lstStyle/>
                    <a:p>
                      <a:pPr algn="ctr"/>
                      <a:r>
                        <a:rPr lang="en-US" sz="1050" dirty="0"/>
                        <a:t>Reason Bank</a:t>
                      </a:r>
                    </a:p>
                  </a:txBody>
                  <a:tcPr anchor="ctr"/>
                </a:tc>
                <a:extLst>
                  <a:ext uri="{0D108BD9-81ED-4DB2-BD59-A6C34878D82A}">
                    <a16:rowId xmlns:a16="http://schemas.microsoft.com/office/drawing/2014/main" val="2394994280"/>
                  </a:ext>
                </a:extLst>
              </a:tr>
              <a:tr h="403960">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1000" dirty="0"/>
                        <a:t>TM not available</a:t>
                      </a:r>
                    </a:p>
                    <a:p>
                      <a:pPr algn="ctr"/>
                      <a:endParaRPr lang="en-US" sz="1050" dirty="0"/>
                    </a:p>
                  </a:txBody>
                  <a:tcPr anchor="ctr"/>
                </a:tc>
                <a:extLst>
                  <a:ext uri="{0D108BD9-81ED-4DB2-BD59-A6C34878D82A}">
                    <a16:rowId xmlns:a16="http://schemas.microsoft.com/office/drawing/2014/main" val="3721785349"/>
                  </a:ext>
                </a:extLst>
              </a:tr>
              <a:tr h="403960">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1000" dirty="0"/>
                        <a:t>Driver not available</a:t>
                      </a:r>
                    </a:p>
                    <a:p>
                      <a:pPr algn="ctr"/>
                      <a:endParaRPr lang="en-US" sz="1050" dirty="0"/>
                    </a:p>
                  </a:txBody>
                  <a:tcPr anchor="ctr"/>
                </a:tc>
                <a:extLst>
                  <a:ext uri="{0D108BD9-81ED-4DB2-BD59-A6C34878D82A}">
                    <a16:rowId xmlns:a16="http://schemas.microsoft.com/office/drawing/2014/main" val="1128046184"/>
                  </a:ext>
                </a:extLst>
              </a:tr>
              <a:tr h="413253">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1000" dirty="0"/>
                        <a:t>TM breakdown</a:t>
                      </a:r>
                    </a:p>
                    <a:p>
                      <a:pPr algn="ctr"/>
                      <a:endParaRPr lang="en-US" sz="1050" dirty="0"/>
                    </a:p>
                  </a:txBody>
                  <a:tcPr anchor="ctr"/>
                </a:tc>
                <a:extLst>
                  <a:ext uri="{0D108BD9-81ED-4DB2-BD59-A6C34878D82A}">
                    <a16:rowId xmlns:a16="http://schemas.microsoft.com/office/drawing/2014/main" val="394448598"/>
                  </a:ext>
                </a:extLst>
              </a:tr>
              <a:tr h="351229">
                <a:tc>
                  <a:txBody>
                    <a:bodyPr/>
                    <a:lstStyle/>
                    <a:p>
                      <a:pPr algn="ctr"/>
                      <a:r>
                        <a:rPr lang="en-US" sz="1000" dirty="0"/>
                        <a:t>PO not available</a:t>
                      </a:r>
                    </a:p>
                  </a:txBody>
                  <a:tcPr anchor="ctr"/>
                </a:tc>
                <a:extLst>
                  <a:ext uri="{0D108BD9-81ED-4DB2-BD59-A6C34878D82A}">
                    <a16:rowId xmlns:a16="http://schemas.microsoft.com/office/drawing/2014/main" val="2686332065"/>
                  </a:ext>
                </a:extLst>
              </a:tr>
              <a:tr h="396339">
                <a:tc>
                  <a:txBody>
                    <a:bodyPr/>
                    <a:lstStyle/>
                    <a:p>
                      <a:pPr algn="ctr"/>
                      <a:r>
                        <a:rPr lang="en-US" sz="1000" dirty="0"/>
                        <a:t>Credit limit not available</a:t>
                      </a:r>
                    </a:p>
                  </a:txBody>
                  <a:tcPr anchor="ctr"/>
                </a:tc>
                <a:extLst>
                  <a:ext uri="{0D108BD9-81ED-4DB2-BD59-A6C34878D82A}">
                    <a16:rowId xmlns:a16="http://schemas.microsoft.com/office/drawing/2014/main" val="940289344"/>
                  </a:ext>
                </a:extLst>
              </a:tr>
              <a:tr h="351229">
                <a:tc>
                  <a:txBody>
                    <a:bodyPr/>
                    <a:lstStyle/>
                    <a:p>
                      <a:pPr algn="ctr"/>
                      <a:r>
                        <a:rPr lang="en-US" sz="1000" dirty="0"/>
                        <a:t>Architect approval not received</a:t>
                      </a:r>
                    </a:p>
                  </a:txBody>
                  <a:tcPr anchor="ctr"/>
                </a:tc>
                <a:extLst>
                  <a:ext uri="{0D108BD9-81ED-4DB2-BD59-A6C34878D82A}">
                    <a16:rowId xmlns:a16="http://schemas.microsoft.com/office/drawing/2014/main" val="1635942904"/>
                  </a:ext>
                </a:extLst>
              </a:tr>
              <a:tr h="351229">
                <a:tc>
                  <a:txBody>
                    <a:bodyPr/>
                    <a:lstStyle/>
                    <a:p>
                      <a:pPr algn="ctr"/>
                      <a:r>
                        <a:rPr lang="en-US" sz="1000" dirty="0"/>
                        <a:t>Others</a:t>
                      </a:r>
                    </a:p>
                  </a:txBody>
                  <a:tcPr anchor="ctr"/>
                </a:tc>
                <a:extLst>
                  <a:ext uri="{0D108BD9-81ED-4DB2-BD59-A6C34878D82A}">
                    <a16:rowId xmlns:a16="http://schemas.microsoft.com/office/drawing/2014/main" val="2823097758"/>
                  </a:ext>
                </a:extLst>
              </a:tr>
            </a:tbl>
          </a:graphicData>
        </a:graphic>
      </p:graphicFrame>
      <p:cxnSp>
        <p:nvCxnSpPr>
          <p:cNvPr id="3" name="Straight Arrow Connector 2">
            <a:extLst>
              <a:ext uri="{FF2B5EF4-FFF2-40B4-BE49-F238E27FC236}">
                <a16:creationId xmlns:a16="http://schemas.microsoft.com/office/drawing/2014/main" id="{C2134753-B387-17F4-ADDB-0F1FC3186FED}"/>
              </a:ext>
            </a:extLst>
          </p:cNvPr>
          <p:cNvCxnSpPr/>
          <p:nvPr/>
        </p:nvCxnSpPr>
        <p:spPr>
          <a:xfrm flipV="1">
            <a:off x="8041064" y="2262433"/>
            <a:ext cx="471340" cy="16363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F06A1A41-E4A2-CB05-3DC0-0F6AC4C7D497}"/>
              </a:ext>
            </a:extLst>
          </p:cNvPr>
          <p:cNvSpPr txBox="1"/>
          <p:nvPr/>
        </p:nvSpPr>
        <p:spPr>
          <a:xfrm>
            <a:off x="5708120" y="4059615"/>
            <a:ext cx="1291420" cy="2031325"/>
          </a:xfrm>
          <a:prstGeom prst="rect">
            <a:avLst/>
          </a:prstGeom>
          <a:noFill/>
        </p:spPr>
        <p:txBody>
          <a:bodyPr wrap="square">
            <a:spAutoFit/>
          </a:bodyPr>
          <a:lstStyle/>
          <a:p>
            <a:pPr algn="ctr"/>
            <a:r>
              <a:rPr lang="en-US" sz="1400" dirty="0"/>
              <a:t>In item master, for site readiness items, add tag of critical </a:t>
            </a:r>
            <a:r>
              <a:rPr lang="en-US" sz="1400"/>
              <a:t>and non critical</a:t>
            </a:r>
            <a:endParaRPr lang="en-US" sz="1400" dirty="0"/>
          </a:p>
          <a:p>
            <a:pPr algn="ctr"/>
            <a:r>
              <a:rPr lang="en-US" sz="1400" dirty="0"/>
              <a:t>Ability to add, modify reason bank  </a:t>
            </a:r>
          </a:p>
        </p:txBody>
      </p:sp>
    </p:spTree>
    <p:extLst>
      <p:ext uri="{BB962C8B-B14F-4D97-AF65-F5344CB8AC3E}">
        <p14:creationId xmlns:p14="http://schemas.microsoft.com/office/powerpoint/2010/main" val="2768818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645695-8F99-A86C-8A59-5CF04844B96E}"/>
              </a:ext>
            </a:extLst>
          </p:cNvPr>
          <p:cNvSpPr txBox="1"/>
          <p:nvPr/>
        </p:nvSpPr>
        <p:spPr>
          <a:xfrm>
            <a:off x="85595" y="283461"/>
            <a:ext cx="4446740" cy="523220"/>
          </a:xfrm>
          <a:prstGeom prst="rect">
            <a:avLst/>
          </a:prstGeom>
          <a:noFill/>
        </p:spPr>
        <p:txBody>
          <a:bodyPr wrap="square" rtlCol="0">
            <a:spAutoFit/>
          </a:bodyPr>
          <a:lstStyle/>
          <a:p>
            <a:r>
              <a:rPr lang="en-US" sz="2800" dirty="0"/>
              <a:t>TM Full-kit</a:t>
            </a:r>
          </a:p>
        </p:txBody>
      </p:sp>
      <p:graphicFrame>
        <p:nvGraphicFramePr>
          <p:cNvPr id="12" name="Table 9">
            <a:extLst>
              <a:ext uri="{FF2B5EF4-FFF2-40B4-BE49-F238E27FC236}">
                <a16:creationId xmlns:a16="http://schemas.microsoft.com/office/drawing/2014/main" id="{DCE73FDE-7A0B-2744-8B25-ADBB3FCA1090}"/>
              </a:ext>
            </a:extLst>
          </p:cNvPr>
          <p:cNvGraphicFramePr>
            <a:graphicFrameLocks noGrp="1"/>
          </p:cNvGraphicFramePr>
          <p:nvPr>
            <p:extLst>
              <p:ext uri="{D42A27DB-BD31-4B8C-83A1-F6EECF244321}">
                <p14:modId xmlns:p14="http://schemas.microsoft.com/office/powerpoint/2010/main" val="3836991529"/>
              </p:ext>
            </p:extLst>
          </p:nvPr>
        </p:nvGraphicFramePr>
        <p:xfrm>
          <a:off x="437353" y="1450329"/>
          <a:ext cx="8159889" cy="1696647"/>
        </p:xfrm>
        <a:graphic>
          <a:graphicData uri="http://schemas.openxmlformats.org/drawingml/2006/table">
            <a:tbl>
              <a:tblPr firstRow="1" bandRow="1">
                <a:tableStyleId>{5C22544A-7EE6-4342-B048-85BDC9FD1C3A}</a:tableStyleId>
              </a:tblPr>
              <a:tblGrid>
                <a:gridCol w="944741">
                  <a:extLst>
                    <a:ext uri="{9D8B030D-6E8A-4147-A177-3AD203B41FA5}">
                      <a16:colId xmlns:a16="http://schemas.microsoft.com/office/drawing/2014/main" val="3782007414"/>
                    </a:ext>
                  </a:extLst>
                </a:gridCol>
                <a:gridCol w="944741">
                  <a:extLst>
                    <a:ext uri="{9D8B030D-6E8A-4147-A177-3AD203B41FA5}">
                      <a16:colId xmlns:a16="http://schemas.microsoft.com/office/drawing/2014/main" val="1330665127"/>
                    </a:ext>
                  </a:extLst>
                </a:gridCol>
                <a:gridCol w="944741">
                  <a:extLst>
                    <a:ext uri="{9D8B030D-6E8A-4147-A177-3AD203B41FA5}">
                      <a16:colId xmlns:a16="http://schemas.microsoft.com/office/drawing/2014/main" val="3812919582"/>
                    </a:ext>
                  </a:extLst>
                </a:gridCol>
                <a:gridCol w="944741">
                  <a:extLst>
                    <a:ext uri="{9D8B030D-6E8A-4147-A177-3AD203B41FA5}">
                      <a16:colId xmlns:a16="http://schemas.microsoft.com/office/drawing/2014/main" val="2019170440"/>
                    </a:ext>
                  </a:extLst>
                </a:gridCol>
                <a:gridCol w="944741">
                  <a:extLst>
                    <a:ext uri="{9D8B030D-6E8A-4147-A177-3AD203B41FA5}">
                      <a16:colId xmlns:a16="http://schemas.microsoft.com/office/drawing/2014/main" val="2680319674"/>
                    </a:ext>
                  </a:extLst>
                </a:gridCol>
                <a:gridCol w="944741">
                  <a:extLst>
                    <a:ext uri="{9D8B030D-6E8A-4147-A177-3AD203B41FA5}">
                      <a16:colId xmlns:a16="http://schemas.microsoft.com/office/drawing/2014/main" val="3984118229"/>
                    </a:ext>
                  </a:extLst>
                </a:gridCol>
                <a:gridCol w="830481">
                  <a:extLst>
                    <a:ext uri="{9D8B030D-6E8A-4147-A177-3AD203B41FA5}">
                      <a16:colId xmlns:a16="http://schemas.microsoft.com/office/drawing/2014/main" val="489110030"/>
                    </a:ext>
                  </a:extLst>
                </a:gridCol>
                <a:gridCol w="830481">
                  <a:extLst>
                    <a:ext uri="{9D8B030D-6E8A-4147-A177-3AD203B41FA5}">
                      <a16:colId xmlns:a16="http://schemas.microsoft.com/office/drawing/2014/main" val="930971761"/>
                    </a:ext>
                  </a:extLst>
                </a:gridCol>
                <a:gridCol w="830481">
                  <a:extLst>
                    <a:ext uri="{9D8B030D-6E8A-4147-A177-3AD203B41FA5}">
                      <a16:colId xmlns:a16="http://schemas.microsoft.com/office/drawing/2014/main" val="1949556548"/>
                    </a:ext>
                  </a:extLst>
                </a:gridCol>
              </a:tblGrid>
              <a:tr h="1306710">
                <a:tc>
                  <a:txBody>
                    <a:bodyPr/>
                    <a:lstStyle/>
                    <a:p>
                      <a:pPr algn="ctr"/>
                      <a:r>
                        <a:rPr lang="en-US" dirty="0"/>
                        <a:t>Delivery </a:t>
                      </a:r>
                      <a:r>
                        <a:rPr lang="en-US" dirty="0" err="1"/>
                        <a:t>Schdule</a:t>
                      </a:r>
                      <a:r>
                        <a:rPr lang="en-US" dirty="0"/>
                        <a:t> Date</a:t>
                      </a:r>
                    </a:p>
                  </a:txBody>
                  <a:tcPr/>
                </a:tc>
                <a:tc>
                  <a:txBody>
                    <a:bodyPr/>
                    <a:lstStyle/>
                    <a:p>
                      <a:pPr algn="ctr"/>
                      <a:r>
                        <a:rPr lang="en-US" dirty="0"/>
                        <a:t>Plant</a:t>
                      </a:r>
                    </a:p>
                  </a:txBody>
                  <a:tcPr/>
                </a:tc>
                <a:tc>
                  <a:txBody>
                    <a:bodyPr/>
                    <a:lstStyle/>
                    <a:p>
                      <a:pPr algn="ctr"/>
                      <a:r>
                        <a:rPr lang="en-US" dirty="0"/>
                        <a:t>Planned Dispatches </a:t>
                      </a:r>
                    </a:p>
                  </a:txBody>
                  <a:tcPr/>
                </a:tc>
                <a:tc>
                  <a:txBody>
                    <a:bodyPr/>
                    <a:lstStyle/>
                    <a:p>
                      <a:pPr algn="ctr"/>
                      <a:r>
                        <a:rPr lang="en-US" dirty="0"/>
                        <a:t>TM Allocated</a:t>
                      </a:r>
                    </a:p>
                  </a:txBody>
                  <a:tcPr/>
                </a:tc>
                <a:tc>
                  <a:txBody>
                    <a:bodyPr/>
                    <a:lstStyle/>
                    <a:p>
                      <a:pPr algn="ctr"/>
                      <a:r>
                        <a:rPr lang="en-US" dirty="0"/>
                        <a:t>TM Available</a:t>
                      </a:r>
                    </a:p>
                  </a:txBody>
                  <a:tcPr/>
                </a:tc>
                <a:tc>
                  <a:txBody>
                    <a:bodyPr/>
                    <a:lstStyle/>
                    <a:p>
                      <a:pPr algn="ctr"/>
                      <a:r>
                        <a:rPr lang="en-US" dirty="0"/>
                        <a:t>Break Down</a:t>
                      </a:r>
                    </a:p>
                  </a:txBody>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dirty="0"/>
                        <a:t>Driver Absent</a:t>
                      </a:r>
                    </a:p>
                  </a:txBody>
                  <a:tcPr/>
                </a:tc>
                <a:tc>
                  <a:txBody>
                    <a:bodyPr/>
                    <a:lstStyle/>
                    <a:p>
                      <a:pPr algn="ctr"/>
                      <a:r>
                        <a:rPr lang="en-US" dirty="0"/>
                        <a:t>FK Availability</a:t>
                      </a:r>
                    </a:p>
                  </a:txBody>
                  <a:tcPr/>
                </a:tc>
                <a:tc>
                  <a:txBody>
                    <a:bodyPr/>
                    <a:lstStyle/>
                    <a:p>
                      <a:pPr algn="ctr"/>
                      <a:r>
                        <a:rPr lang="en-US" dirty="0"/>
                        <a:t>Actual Dispatch</a:t>
                      </a:r>
                    </a:p>
                  </a:txBody>
                  <a:tcPr/>
                </a:tc>
                <a:extLst>
                  <a:ext uri="{0D108BD9-81ED-4DB2-BD59-A6C34878D82A}">
                    <a16:rowId xmlns:a16="http://schemas.microsoft.com/office/drawing/2014/main" val="2112597659"/>
                  </a:ext>
                </a:extLst>
              </a:tr>
              <a:tr h="389937">
                <a:tc>
                  <a:txBody>
                    <a:bodyPr/>
                    <a:lstStyle/>
                    <a:p>
                      <a:pPr algn="ctr"/>
                      <a:r>
                        <a:rPr lang="en-US" dirty="0"/>
                        <a:t>1</a:t>
                      </a:r>
                      <a:r>
                        <a:rPr lang="en-US" baseline="30000" dirty="0"/>
                        <a:t>st</a:t>
                      </a:r>
                      <a:r>
                        <a:rPr lang="en-US" dirty="0"/>
                        <a:t> May</a:t>
                      </a:r>
                    </a:p>
                  </a:txBody>
                  <a:tcPr/>
                </a:tc>
                <a:tc>
                  <a:txBody>
                    <a:bodyPr/>
                    <a:lstStyle/>
                    <a:p>
                      <a:pPr algn="ctr"/>
                      <a:r>
                        <a:rPr lang="en-US" dirty="0"/>
                        <a:t>Ghatkopar</a:t>
                      </a:r>
                    </a:p>
                  </a:txBody>
                  <a:tcPr/>
                </a:tc>
                <a:tc>
                  <a:txBody>
                    <a:bodyPr/>
                    <a:lstStyle/>
                    <a:p>
                      <a:pPr algn="ctr"/>
                      <a:r>
                        <a:rPr lang="en-US" dirty="0"/>
                        <a:t>250</a:t>
                      </a:r>
                    </a:p>
                  </a:txBody>
                  <a:tcPr/>
                </a:tc>
                <a:tc>
                  <a:txBody>
                    <a:bodyPr/>
                    <a:lstStyle/>
                    <a:p>
                      <a:pPr algn="ctr"/>
                      <a:r>
                        <a:rPr lang="en-US" dirty="0"/>
                        <a:t>20</a:t>
                      </a:r>
                    </a:p>
                  </a:txBody>
                  <a:tcPr/>
                </a:tc>
                <a:tc>
                  <a:txBody>
                    <a:bodyPr/>
                    <a:lstStyle/>
                    <a:p>
                      <a:pPr algn="ctr"/>
                      <a:r>
                        <a:rPr lang="en-US" dirty="0"/>
                        <a:t>18</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90%</a:t>
                      </a:r>
                    </a:p>
                  </a:txBody>
                  <a:tcPr/>
                </a:tc>
                <a:tc>
                  <a:txBody>
                    <a:bodyPr/>
                    <a:lstStyle/>
                    <a:p>
                      <a:pPr algn="ctr"/>
                      <a:endParaRPr lang="en-US" dirty="0"/>
                    </a:p>
                  </a:txBody>
                  <a:tcPr/>
                </a:tc>
                <a:extLst>
                  <a:ext uri="{0D108BD9-81ED-4DB2-BD59-A6C34878D82A}">
                    <a16:rowId xmlns:a16="http://schemas.microsoft.com/office/drawing/2014/main" val="2323989272"/>
                  </a:ext>
                </a:extLst>
              </a:tr>
            </a:tbl>
          </a:graphicData>
        </a:graphic>
      </p:graphicFrame>
      <p:pic>
        <p:nvPicPr>
          <p:cNvPr id="20" name="Graphic 19" descr="Checkbox Ticked with solid fill">
            <a:extLst>
              <a:ext uri="{FF2B5EF4-FFF2-40B4-BE49-F238E27FC236}">
                <a16:creationId xmlns:a16="http://schemas.microsoft.com/office/drawing/2014/main" id="{90796DC4-572C-E590-70DD-90A45A3BCB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83494" y="7183919"/>
            <a:ext cx="382218" cy="382218"/>
          </a:xfrm>
          <a:prstGeom prst="rect">
            <a:avLst/>
          </a:prstGeom>
        </p:spPr>
      </p:pic>
      <p:sp>
        <p:nvSpPr>
          <p:cNvPr id="5" name="Rectangle 4">
            <a:extLst>
              <a:ext uri="{FF2B5EF4-FFF2-40B4-BE49-F238E27FC236}">
                <a16:creationId xmlns:a16="http://schemas.microsoft.com/office/drawing/2014/main" id="{8F01D9CA-33C0-0440-8AD8-9B0EEB29D600}"/>
              </a:ext>
            </a:extLst>
          </p:cNvPr>
          <p:cNvSpPr/>
          <p:nvPr/>
        </p:nvSpPr>
        <p:spPr>
          <a:xfrm>
            <a:off x="437353" y="3571005"/>
            <a:ext cx="8159889" cy="127261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Questions</a:t>
            </a:r>
          </a:p>
          <a:p>
            <a:pPr marL="342900" indent="-342900" algn="ctr">
              <a:buFont typeface="+mj-lt"/>
              <a:buAutoNum type="arabicPeriod"/>
            </a:pPr>
            <a:r>
              <a:rPr lang="en-IN" dirty="0"/>
              <a:t>How to treat pending orders in OMS – Zero delivery or partial delivery  </a:t>
            </a:r>
          </a:p>
          <a:p>
            <a:endParaRPr lang="en-IN" dirty="0"/>
          </a:p>
        </p:txBody>
      </p:sp>
    </p:spTree>
    <p:extLst>
      <p:ext uri="{BB962C8B-B14F-4D97-AF65-F5344CB8AC3E}">
        <p14:creationId xmlns:p14="http://schemas.microsoft.com/office/powerpoint/2010/main" val="4081306331"/>
      </p:ext>
    </p:extLst>
  </p:cSld>
  <p:clrMapOvr>
    <a:masterClrMapping/>
  </p:clrMapOvr>
</p:sld>
</file>

<file path=ppt/theme/theme1.xml><?xml version="1.0" encoding="utf-8"?>
<a:theme xmlns:a="http://schemas.openxmlformats.org/drawingml/2006/main" name="8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harat Forge" id="{34D11D22-3C86-4EC4-B7FC-2C648AFA137C}" vid="{A407891D-64C0-4467-A5D7-70AFF0FB69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9275</TotalTime>
  <Words>476</Words>
  <Application>Microsoft Office PowerPoint</Application>
  <PresentationFormat>On-screen Show (4:3)</PresentationFormat>
  <Paragraphs>106</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Amasis MT Pro Medium</vt:lpstr>
      <vt:lpstr>Arial</vt:lpstr>
      <vt:lpstr>Calibri</vt:lpstr>
      <vt:lpstr>Wingdings</vt:lpstr>
      <vt:lpstr>84_Custom Design</vt:lpstr>
      <vt:lpstr>PowerPoint Presentation</vt:lpstr>
      <vt:lpstr>PowerPoint Presentation</vt:lpstr>
      <vt:lpstr>PowerPoint Presentation</vt:lpstr>
      <vt:lpstr>Full-kit Management Process Flow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 Implementation Nayee Soch Plan</dc:title>
  <dc:creator>Chandrashekhar Chaudhari</dc:creator>
  <cp:lastModifiedBy>Punit Mulley</cp:lastModifiedBy>
  <cp:revision>576</cp:revision>
  <dcterms:created xsi:type="dcterms:W3CDTF">2022-02-12T02:48:50Z</dcterms:created>
  <dcterms:modified xsi:type="dcterms:W3CDTF">2022-05-16T07:00:21Z</dcterms:modified>
</cp:coreProperties>
</file>